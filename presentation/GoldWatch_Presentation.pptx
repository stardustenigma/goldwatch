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any member.</a:t>
            </a:r>
          </a:p>
          <a:p>
            <a:r>
              <a:t>Introduce the team and the project: GoldWatch detects unusual price and volume moves in gold futures using rolling statistics, and tests whether upward spikes are followed by declines.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any member. Walk through the structure of the talk in one sentence each.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A or B.</a:t>
            </a:r>
          </a:p>
          <a:p>
            <a:r>
              <a:t>Our starting point was a crypto project idea (PumpWatch): in small coins, groups buy together, the price pumps on heavy volume, then they sell and it dumps. We asked whether the same statistical tools work on gold — a huge, liquid market — and whether upward spikes there are also followed by declines.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A.</a:t>
            </a:r>
          </a:p>
          <a:p>
            <a:r>
              <a:t>We use gold futures (ticker GC=F) from Yahoo Finance through the yfinance library: 6,563 daily rows from August 2000 to October 2026. Each row has open, high, low, close and volume. Because the price rose more than tenfold, we analyse percentage returns rather than raw prices.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any member.</a:t>
            </a:r>
          </a:p>
          <a:p>
            <a:r>
              <a:t>The project is a pipeline of independent stages. Each stage writes a CSV that the next stage reads, so every step can be run and checked on its own. Member A builds the data pipeline, Member B the detection and backtest, Member C the dashboard that puts it all together.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A.</a:t>
            </a:r>
          </a:p>
          <a:p>
            <a:r>
              <a:t>Five steps: download, normalise, validate, handle missing values, compute features. Rows with impossible prices (for example High below Low) are removed — 441 rows in total, almost all from early 2000s settlement-price issues. We never forward-fill prices, because copying yesterday's price hides real moves and would distort the anomaly detection.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B.</a:t>
            </a:r>
          </a:p>
          <a:p>
            <a:r>
              <a:t>Left: the histogram of daily returns on a log scale against a normal curve. Gold has fat tails — extreme days happen far more often than a bell curve predicts (excess kurtosis 20.1). Right: volatility comes in clusters (2008, 2013, 2020). So a fixed threshold over the whole history would be wrong; we need a rolling window that adapts to the current regime.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B.</a:t>
            </a:r>
          </a:p>
          <a:p>
            <a:r>
              <a:t>Before 2020, Yahoo reports a median of only about 118 contracts a day for GC=F, with 382 zero-volume days. From 2020 the median is about 180,215 — real exchange volume. So we only compute volume Z-scores from 2020. We also found that very LOW volume days fall at month-end contract rolls, so only HIGH volume counts as an anomaly.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B.</a:t>
            </a:r>
          </a:p>
          <a:p>
            <a:r>
              <a:t>The Z-score measures how unusual today is compared with the previous 30 trading days. We take the mean and standard deviation of those 30 days and see how many standard deviations today is away from the mean. Today is excluded from its own window: otherwise a spike would inflate the mean and std and hide itself, and we would be using information that wasn't available yet.</a:t>
            </a:r>
          </a:p>
          <a:p>
            <a:r>
              <a:t>Example (chart): Brexit vote, 24 June 2016. Gold rose 4.66% while the previous 30 days had mean -0.03% and std 0.81%. Z = (4.66 − -0.03) / 0.81 = 5.8. Complexity is O(n) with a sliding window.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B.</a:t>
            </a:r>
          </a:p>
          <a:p>
            <a:r>
              <a:t>Top: gold price in the first half of 2013. Bottom: the rolling Z-score of daily returns, with the ±2.5 thresholds. On 12 and 15 April 2013 gold fell sharply and the Z-score drops far below −2.5, so both days are flagged (red triangles). Note that after the crash the window contains the big moves, so σ is larger and later moves of similar size get smaller Z-scores — the window adapts.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B.</a:t>
            </a:r>
          </a:p>
          <a:p>
            <a:r>
              <a:t>Step 1: cap each Z-score at 5 (twice the threshold) so one extreme day doesn't dominate, and scale to 0–1. Only positive volume Z counts. Step 2: weighted average — volume counts half as much as price — times 100 gives a 0–100 score. Step 3: a day is flagged if either Z crosses 2.5. Step 4: label it.</a:t>
            </a:r>
          </a:p>
          <a:p>
            <a:r>
              <a:t>Result: 239 anomalous days (3.9%): 101 upward spikes, 118 downward shocks, 20 volume spikes.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B.</a:t>
            </a:r>
          </a:p>
          <a:p>
            <a:r>
              <a:t>Left: the whole price history on a log scale with every flagged day. Right: some of the strongest anomalies and the news behind them. The algorithm knows nothing about the news — it only sees numbers — yet the biggest flags line up with 9/11, the 2013 crash, the Brexit vote, the Fed's 2019 turn and the Covid vaccine announcement. This is a good sanity check that the detector finds real events.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B.</a:t>
            </a:r>
          </a:p>
          <a:p>
            <a:r>
              <a:t>For each upward spike on day t we 'buy' at the close of day t and look at the close h trading days later. The forward return is exit divided by entry minus one; if it's negative the spike was followed by a decline. We do this for h = 1, 5, 10 and 20 days.</a:t>
            </a:r>
          </a:p>
          <a:p>
            <a:r>
              <a:t>The key idea is the baseline: gold falls over a 5-day period about 44% of the time anyway. So we compare the decline rate after spikes with the decline rate over all days. The difference is the lift.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B.</a:t>
            </a:r>
          </a:p>
          <a:p>
            <a:r>
              <a:t>The Z-test tells us whether the difference between the decline rate after spikes and the baseline is real or could be luck. H0 says spikes are no different from a normal day; H1 says they are followed by drops more often. We compute how many standard errors the observed rate is above the baseline and convert that to a p-value with the normal distribution. If p &lt; 0.05 we reject H0.</a:t>
            </a:r>
          </a:p>
          <a:p>
            <a:r>
              <a:t>Worked example with our 20-day result: 55 of 101 spikes declined (0.545) vs a baseline of 0.430: z = 2.32, p = 0.010, so it is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B.</a:t>
            </a:r>
          </a:p>
          <a:p>
            <a:r>
              <a:t>Gold bars: share of upward spikes followed by a decline. Grey bars: the same for any day. After 1, 5 and 10 days the two are almost equal and the p-values are large — no short-term dump. Only at 20 days do spikes decline clearly more often (54.5% vs 43.0%, p = 0.010).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B.</a:t>
            </a:r>
          </a:p>
          <a:p>
            <a:r>
              <a:t>This chart averages the price path over the 20 trading days after each of the 101 upward spikes, compared with the average path after any day. Spikes do not crash afterwards: the average stays slightly positive. But it grows much more slowly than normal: +0.29% after 20 days vs +1.02% for a normal day. The band shows the 95% confidence interval. So gold spikes look like news-driven repricing that is partly given back over a month, not a pump-and-dump.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C.</a:t>
            </a:r>
          </a:p>
          <a:p>
            <a:r>
              <a:t>The Streamlit dashboard loads the processed data and Member B's analysis and backtest files. The sidebar lets the user pick the date range, chart type and the model parameters — window, threshold and volume weight — and every chart updates immediately. There are four tabs: overview, anomaly signals, the event-study backtest and a data explorer with CSV export. Run it with: streamlit run app.py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C.</a:t>
            </a:r>
          </a:p>
          <a:p>
            <a:r>
              <a:t>Every chart was chosen to answer a specific question. Price with markers shows when anomalies happen; Z-score lines with threshold bands show the detection rule itself; the forward-return histogram shows the full distribution of outcomes rather than only an average; KPI cards give the headline numbers. The dashboard uses Plotly for interactivity (hover, zoom); the static charts in this deck use Matplotlib.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any member.</a:t>
            </a:r>
          </a:p>
          <a:p>
            <a:r>
              <a:t>Four takeaways: the detector works and finds real events; there is no short-term dump in gold; there is a slow partial reversal over about a month; and so the answer to our research question is that gold does not show crypto-style pump-and-dump behaviour.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any member.</a:t>
            </a:r>
          </a:p>
          <a:p>
            <a:r>
              <a:t>Limitations: spikes cluster in time, so their outcome windows overlap and the events are not fully independent — the p-value is somewhat optimistic. We tested four horizons; with a Bonferroni correction (0.05 / 4 = 0.0125) the 20-day result still passes. Volume is only usable from 2020. Cleaning removed a few rows, so some returns span several days. And this is not a trading strategy — no costs are modelled.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any member. Thank the audience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pic>
        <p:nvPicPr>
          <p:cNvPr id="2" name="Picture 1" descr="title_spark.png"/>
          <p:cNvPicPr>
            <a:picLocks noChangeAspect="1"/>
          </p:cNvPicPr>
          <p:nvPr/>
        </p:nvPicPr>
        <p:blipFill>
          <a:blip r:embed="rId3"/>
          <a:stretch>
            <a:fillRect/>
          </a:stretch>
        </p:blipFill>
        <p:spPr>
          <a:xfrm>
            <a:off x="6309360" y="1070457"/>
            <a:ext cx="5486400" cy="3345484"/>
          </a:xfrm>
          <a:prstGeom prst="rect">
            <a:avLst/>
          </a:prstGeom>
        </p:spPr>
      </p:pic>
      <p:sp>
        <p:nvSpPr>
          <p:cNvPr id="3" name="TextBox 2"/>
          <p:cNvSpPr txBox="1"/>
          <p:nvPr/>
        </p:nvSpPr>
        <p:spPr>
          <a:xfrm>
            <a:off x="548640" y="1143000"/>
            <a:ext cx="6400800" cy="411480"/>
          </a:xfrm>
          <a:prstGeom prst="rect">
            <a:avLst/>
          </a:prstGeom>
          <a:noFill/>
        </p:spPr>
        <p:txBody>
          <a:bodyPr wrap="square" anchor="t" lIns="45720" rIns="45720" tIns="27432" bIns="27432">
            <a:spAutoFit/>
          </a:bodyPr>
          <a:lstStyle/>
          <a:p>
            <a:pPr algn="l">
              <a:lnSpc>
                <a:spcPct val="110000"/>
              </a:lnSpc>
              <a:spcAft>
                <a:spcPts val="600"/>
              </a:spcAft>
            </a:pPr>
            <a:r>
              <a:rPr sz="1400" b="1" i="0">
                <a:solidFill>
                  <a:srgbClr val="14B8A6"/>
                </a:solidFill>
                <a:latin typeface="Calibri"/>
              </a:rPr>
              <a:t>DATA ANALYTICS AND VISUALIZATION  ·  COURSE PROJECT</a:t>
            </a:r>
          </a:p>
        </p:txBody>
      </p:sp>
      <p:sp>
        <p:nvSpPr>
          <p:cNvPr id="4" name="TextBox 3"/>
          <p:cNvSpPr txBox="1"/>
          <p:nvPr/>
        </p:nvSpPr>
        <p:spPr>
          <a:xfrm>
            <a:off x="548640" y="1600200"/>
            <a:ext cx="6400800" cy="1097280"/>
          </a:xfrm>
          <a:prstGeom prst="rect">
            <a:avLst/>
          </a:prstGeom>
          <a:noFill/>
        </p:spPr>
        <p:txBody>
          <a:bodyPr wrap="square" anchor="t" lIns="45720" rIns="45720" tIns="27432" bIns="27432">
            <a:spAutoFit/>
          </a:bodyPr>
          <a:lstStyle/>
          <a:p>
            <a:pPr algn="l">
              <a:lnSpc>
                <a:spcPct val="110000"/>
              </a:lnSpc>
              <a:spcAft>
                <a:spcPts val="0"/>
              </a:spcAft>
            </a:pPr>
            <a:r>
              <a:rPr sz="6600" b="1" i="0">
                <a:solidFill>
                  <a:srgbClr val="F5BD4F"/>
                </a:solidFill>
                <a:latin typeface="Calibri"/>
              </a:rPr>
              <a:t>GoldWatch</a:t>
            </a:r>
          </a:p>
        </p:txBody>
      </p:sp>
      <p:sp>
        <p:nvSpPr>
          <p:cNvPr id="5" name="TextBox 4"/>
          <p:cNvSpPr txBox="1"/>
          <p:nvPr/>
        </p:nvSpPr>
        <p:spPr>
          <a:xfrm>
            <a:off x="548640" y="2743200"/>
            <a:ext cx="6035040" cy="1097280"/>
          </a:xfrm>
          <a:prstGeom prst="rect">
            <a:avLst/>
          </a:prstGeom>
          <a:noFill/>
        </p:spPr>
        <p:txBody>
          <a:bodyPr wrap="square" anchor="t" lIns="45720" rIns="45720" tIns="27432" bIns="27432">
            <a:spAutoFit/>
          </a:bodyPr>
          <a:lstStyle/>
          <a:p>
            <a:pPr algn="l">
              <a:lnSpc>
                <a:spcPct val="110000"/>
              </a:lnSpc>
              <a:spcAft>
                <a:spcPts val="0"/>
              </a:spcAft>
            </a:pPr>
            <a:r>
              <a:rPr sz="2400" b="0" i="0">
                <a:solidFill>
                  <a:srgbClr val="F1F5F9"/>
                </a:solidFill>
                <a:latin typeface="Calibri"/>
              </a:rPr>
              <a:t>Detecting anomalous price spikes in gold futures with rolling statistics</a:t>
            </a:r>
          </a:p>
        </p:txBody>
      </p:sp>
      <p:sp>
        <p:nvSpPr>
          <p:cNvPr id="6" name="TextBox 5"/>
          <p:cNvSpPr txBox="1"/>
          <p:nvPr/>
        </p:nvSpPr>
        <p:spPr>
          <a:xfrm>
            <a:off x="548640" y="3886200"/>
            <a:ext cx="5852160" cy="731520"/>
          </a:xfrm>
          <a:prstGeom prst="rect">
            <a:avLst/>
          </a:prstGeom>
          <a:noFill/>
        </p:spPr>
        <p:txBody>
          <a:bodyPr wrap="square" anchor="t" lIns="45720" rIns="45720" tIns="27432" bIns="27432">
            <a:spAutoFit/>
          </a:bodyPr>
          <a:lstStyle/>
          <a:p>
            <a:pPr algn="l">
              <a:lnSpc>
                <a:spcPct val="110000"/>
              </a:lnSpc>
              <a:spcAft>
                <a:spcPts val="600"/>
              </a:spcAft>
            </a:pPr>
            <a:r>
              <a:rPr sz="1600" b="0" i="0">
                <a:solidFill>
                  <a:srgbClr val="94A3B8"/>
                </a:solidFill>
                <a:latin typeface="Calibri"/>
              </a:rPr>
              <a:t>Can price and volume statistics alone flag pump-and-dump-style moves?</a:t>
            </a:r>
          </a:p>
        </p:txBody>
      </p:sp>
      <p:sp>
        <p:nvSpPr>
          <p:cNvPr id="7" name="Rounded Rectangle 6"/>
          <p:cNvSpPr/>
          <p:nvPr/>
        </p:nvSpPr>
        <p:spPr>
          <a:xfrm>
            <a:off x="548640" y="4892040"/>
            <a:ext cx="3557016" cy="118872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020055"/>
            <a:ext cx="3154680"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MEMBER A</a:t>
            </a:r>
          </a:p>
        </p:txBody>
      </p:sp>
      <p:sp>
        <p:nvSpPr>
          <p:cNvPr id="9" name="TextBox 8"/>
          <p:cNvSpPr txBox="1"/>
          <p:nvPr/>
        </p:nvSpPr>
        <p:spPr>
          <a:xfrm>
            <a:off x="749808" y="5230368"/>
            <a:ext cx="3200400" cy="365760"/>
          </a:xfrm>
          <a:prstGeom prst="rect">
            <a:avLst/>
          </a:prstGeom>
          <a:noFill/>
        </p:spPr>
        <p:txBody>
          <a:bodyPr wrap="square" anchor="t" lIns="45720" rIns="45720" tIns="27432" bIns="27432">
            <a:spAutoFit/>
          </a:bodyPr>
          <a:lstStyle/>
          <a:p>
            <a:pPr algn="l">
              <a:lnSpc>
                <a:spcPct val="110000"/>
              </a:lnSpc>
              <a:spcAft>
                <a:spcPts val="0"/>
              </a:spcAft>
            </a:pPr>
            <a:r>
              <a:rPr sz="1800" b="1" i="0">
                <a:solidFill>
                  <a:srgbClr val="F1F5F9"/>
                </a:solidFill>
                <a:latin typeface="Calibri"/>
              </a:rPr>
              <a:t>[Name]</a:t>
            </a:r>
          </a:p>
        </p:txBody>
      </p:sp>
      <p:sp>
        <p:nvSpPr>
          <p:cNvPr id="10" name="TextBox 9"/>
          <p:cNvSpPr txBox="1"/>
          <p:nvPr/>
        </p:nvSpPr>
        <p:spPr>
          <a:xfrm>
            <a:off x="749808" y="5596128"/>
            <a:ext cx="3200400" cy="36576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Data Collection &amp; Preprocessing</a:t>
            </a:r>
          </a:p>
        </p:txBody>
      </p:sp>
      <p:sp>
        <p:nvSpPr>
          <p:cNvPr id="11" name="Rounded Rectangle 10"/>
          <p:cNvSpPr/>
          <p:nvPr/>
        </p:nvSpPr>
        <p:spPr>
          <a:xfrm>
            <a:off x="4306824" y="4892040"/>
            <a:ext cx="3557016" cy="118872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5020055"/>
            <a:ext cx="3154680"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MEMBER B</a:t>
            </a:r>
          </a:p>
        </p:txBody>
      </p:sp>
      <p:sp>
        <p:nvSpPr>
          <p:cNvPr id="13" name="TextBox 12"/>
          <p:cNvSpPr txBox="1"/>
          <p:nvPr/>
        </p:nvSpPr>
        <p:spPr>
          <a:xfrm>
            <a:off x="4507992" y="5230368"/>
            <a:ext cx="3200400" cy="365760"/>
          </a:xfrm>
          <a:prstGeom prst="rect">
            <a:avLst/>
          </a:prstGeom>
          <a:noFill/>
        </p:spPr>
        <p:txBody>
          <a:bodyPr wrap="square" anchor="t" lIns="45720" rIns="45720" tIns="27432" bIns="27432">
            <a:spAutoFit/>
          </a:bodyPr>
          <a:lstStyle/>
          <a:p>
            <a:pPr algn="l">
              <a:lnSpc>
                <a:spcPct val="110000"/>
              </a:lnSpc>
              <a:spcAft>
                <a:spcPts val="0"/>
              </a:spcAft>
            </a:pPr>
            <a:r>
              <a:rPr sz="1800" b="1" i="0">
                <a:solidFill>
                  <a:srgbClr val="F1F5F9"/>
                </a:solidFill>
                <a:latin typeface="Calibri"/>
              </a:rPr>
              <a:t>[Name]</a:t>
            </a:r>
          </a:p>
        </p:txBody>
      </p:sp>
      <p:sp>
        <p:nvSpPr>
          <p:cNvPr id="14" name="TextBox 13"/>
          <p:cNvSpPr txBox="1"/>
          <p:nvPr/>
        </p:nvSpPr>
        <p:spPr>
          <a:xfrm>
            <a:off x="4507992" y="5596128"/>
            <a:ext cx="3200400" cy="36576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Anomaly Detection &amp; Backtesting</a:t>
            </a:r>
          </a:p>
        </p:txBody>
      </p:sp>
      <p:sp>
        <p:nvSpPr>
          <p:cNvPr id="15" name="Rounded Rectangle 14"/>
          <p:cNvSpPr/>
          <p:nvPr/>
        </p:nvSpPr>
        <p:spPr>
          <a:xfrm>
            <a:off x="8065008" y="4892040"/>
            <a:ext cx="3557016" cy="118872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6176" y="5020055"/>
            <a:ext cx="3154680"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MEMBER C</a:t>
            </a:r>
          </a:p>
        </p:txBody>
      </p:sp>
      <p:sp>
        <p:nvSpPr>
          <p:cNvPr id="17" name="TextBox 16"/>
          <p:cNvSpPr txBox="1"/>
          <p:nvPr/>
        </p:nvSpPr>
        <p:spPr>
          <a:xfrm>
            <a:off x="8266176" y="5230368"/>
            <a:ext cx="3200400" cy="365760"/>
          </a:xfrm>
          <a:prstGeom prst="rect">
            <a:avLst/>
          </a:prstGeom>
          <a:noFill/>
        </p:spPr>
        <p:txBody>
          <a:bodyPr wrap="square" anchor="t" lIns="45720" rIns="45720" tIns="27432" bIns="27432">
            <a:spAutoFit/>
          </a:bodyPr>
          <a:lstStyle/>
          <a:p>
            <a:pPr algn="l">
              <a:lnSpc>
                <a:spcPct val="110000"/>
              </a:lnSpc>
              <a:spcAft>
                <a:spcPts val="0"/>
              </a:spcAft>
            </a:pPr>
            <a:r>
              <a:rPr sz="1800" b="1" i="0">
                <a:solidFill>
                  <a:srgbClr val="F1F5F9"/>
                </a:solidFill>
                <a:latin typeface="Calibri"/>
              </a:rPr>
              <a:t>[Name]</a:t>
            </a:r>
          </a:p>
        </p:txBody>
      </p:sp>
      <p:sp>
        <p:nvSpPr>
          <p:cNvPr id="18" name="TextBox 17"/>
          <p:cNvSpPr txBox="1"/>
          <p:nvPr/>
        </p:nvSpPr>
        <p:spPr>
          <a:xfrm>
            <a:off x="8266176" y="5596128"/>
            <a:ext cx="3200400" cy="36576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Dashboard &amp; Integration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Agenda</a:t>
            </a:r>
          </a:p>
        </p:txBody>
      </p:sp>
      <p:sp>
        <p:nvSpPr>
          <p:cNvPr id="4" name="TextBox 3"/>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5" name="TextBox 4"/>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2</a:t>
            </a:r>
          </a:p>
        </p:txBody>
      </p:sp>
      <p:sp>
        <p:nvSpPr>
          <p:cNvPr id="6" name="Rounded Rectangle 5"/>
          <p:cNvSpPr/>
          <p:nvPr/>
        </p:nvSpPr>
        <p:spPr>
          <a:xfrm>
            <a:off x="548640" y="1463040"/>
            <a:ext cx="5394960" cy="10058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63040"/>
            <a:ext cx="731520" cy="1005840"/>
          </a:xfrm>
          <a:prstGeom prst="rect">
            <a:avLst/>
          </a:prstGeom>
          <a:noFill/>
        </p:spPr>
        <p:txBody>
          <a:bodyPr wrap="square" anchor="ctr" lIns="45720" rIns="45720" tIns="27432" bIns="27432">
            <a:spAutoFit/>
          </a:bodyPr>
          <a:lstStyle/>
          <a:p>
            <a:pPr algn="l">
              <a:lnSpc>
                <a:spcPct val="110000"/>
              </a:lnSpc>
              <a:spcAft>
                <a:spcPts val="0"/>
              </a:spcAft>
            </a:pPr>
            <a:r>
              <a:rPr sz="2800" b="1" i="0">
                <a:solidFill>
                  <a:srgbClr val="F5BD4F"/>
                </a:solidFill>
                <a:latin typeface="Calibri"/>
              </a:rPr>
              <a:t>01</a:t>
            </a:r>
          </a:p>
        </p:txBody>
      </p:sp>
      <p:sp>
        <p:nvSpPr>
          <p:cNvPr id="8" name="TextBox 7"/>
          <p:cNvSpPr txBox="1"/>
          <p:nvPr/>
        </p:nvSpPr>
        <p:spPr>
          <a:xfrm>
            <a:off x="1508760" y="1591056"/>
            <a:ext cx="4297680" cy="411480"/>
          </a:xfrm>
          <a:prstGeom prst="rect">
            <a:avLst/>
          </a:prstGeom>
          <a:noFill/>
        </p:spPr>
        <p:txBody>
          <a:bodyPr wrap="square" anchor="t" lIns="45720" rIns="45720" tIns="27432" bIns="27432">
            <a:spAutoFit/>
          </a:bodyPr>
          <a:lstStyle/>
          <a:p>
            <a:pPr algn="l">
              <a:lnSpc>
                <a:spcPct val="110000"/>
              </a:lnSpc>
              <a:spcAft>
                <a:spcPts val="0"/>
              </a:spcAft>
            </a:pPr>
            <a:r>
              <a:rPr sz="1900" b="1" i="0">
                <a:solidFill>
                  <a:srgbClr val="F1F5F9"/>
                </a:solidFill>
                <a:latin typeface="Calibri"/>
              </a:rPr>
              <a:t>Problem &amp; Motivation</a:t>
            </a:r>
          </a:p>
        </p:txBody>
      </p:sp>
      <p:sp>
        <p:nvSpPr>
          <p:cNvPr id="9" name="TextBox 8"/>
          <p:cNvSpPr txBox="1"/>
          <p:nvPr/>
        </p:nvSpPr>
        <p:spPr>
          <a:xfrm>
            <a:off x="1508760" y="1984248"/>
            <a:ext cx="4297680" cy="36576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From crypto pump-and-dumps to gold</a:t>
            </a:r>
          </a:p>
        </p:txBody>
      </p:sp>
      <p:sp>
        <p:nvSpPr>
          <p:cNvPr id="10" name="Rounded Rectangle 9"/>
          <p:cNvSpPr/>
          <p:nvPr/>
        </p:nvSpPr>
        <p:spPr>
          <a:xfrm>
            <a:off x="548640" y="2651760"/>
            <a:ext cx="5394960" cy="10058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651760"/>
            <a:ext cx="731520" cy="1005840"/>
          </a:xfrm>
          <a:prstGeom prst="rect">
            <a:avLst/>
          </a:prstGeom>
          <a:noFill/>
        </p:spPr>
        <p:txBody>
          <a:bodyPr wrap="square" anchor="ctr" lIns="45720" rIns="45720" tIns="27432" bIns="27432">
            <a:spAutoFit/>
          </a:bodyPr>
          <a:lstStyle/>
          <a:p>
            <a:pPr algn="l">
              <a:lnSpc>
                <a:spcPct val="110000"/>
              </a:lnSpc>
              <a:spcAft>
                <a:spcPts val="0"/>
              </a:spcAft>
            </a:pPr>
            <a:r>
              <a:rPr sz="2800" b="1" i="0">
                <a:solidFill>
                  <a:srgbClr val="F5BD4F"/>
                </a:solidFill>
                <a:latin typeface="Calibri"/>
              </a:rPr>
              <a:t>02</a:t>
            </a:r>
          </a:p>
        </p:txBody>
      </p:sp>
      <p:sp>
        <p:nvSpPr>
          <p:cNvPr id="12" name="TextBox 11"/>
          <p:cNvSpPr txBox="1"/>
          <p:nvPr/>
        </p:nvSpPr>
        <p:spPr>
          <a:xfrm>
            <a:off x="1508760" y="2779776"/>
            <a:ext cx="4297680" cy="411480"/>
          </a:xfrm>
          <a:prstGeom prst="rect">
            <a:avLst/>
          </a:prstGeom>
          <a:noFill/>
        </p:spPr>
        <p:txBody>
          <a:bodyPr wrap="square" anchor="t" lIns="45720" rIns="45720" tIns="27432" bIns="27432">
            <a:spAutoFit/>
          </a:bodyPr>
          <a:lstStyle/>
          <a:p>
            <a:pPr algn="l">
              <a:lnSpc>
                <a:spcPct val="110000"/>
              </a:lnSpc>
              <a:spcAft>
                <a:spcPts val="0"/>
              </a:spcAft>
            </a:pPr>
            <a:r>
              <a:rPr sz="1900" b="1" i="0">
                <a:solidFill>
                  <a:srgbClr val="F1F5F9"/>
                </a:solidFill>
                <a:latin typeface="Calibri"/>
              </a:rPr>
              <a:t>Dataset &amp; Preprocessing</a:t>
            </a:r>
          </a:p>
        </p:txBody>
      </p:sp>
      <p:sp>
        <p:nvSpPr>
          <p:cNvPr id="13" name="TextBox 12"/>
          <p:cNvSpPr txBox="1"/>
          <p:nvPr/>
        </p:nvSpPr>
        <p:spPr>
          <a:xfrm>
            <a:off x="1508760" y="3172968"/>
            <a:ext cx="4297680" cy="36576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Yahoo Finance GC=F, 2000–2026</a:t>
            </a:r>
          </a:p>
        </p:txBody>
      </p:sp>
      <p:sp>
        <p:nvSpPr>
          <p:cNvPr id="14" name="Rounded Rectangle 13"/>
          <p:cNvSpPr/>
          <p:nvPr/>
        </p:nvSpPr>
        <p:spPr>
          <a:xfrm>
            <a:off x="548640" y="3840480"/>
            <a:ext cx="5394960" cy="10058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840480"/>
            <a:ext cx="731520" cy="1005840"/>
          </a:xfrm>
          <a:prstGeom prst="rect">
            <a:avLst/>
          </a:prstGeom>
          <a:noFill/>
        </p:spPr>
        <p:txBody>
          <a:bodyPr wrap="square" anchor="ctr" lIns="45720" rIns="45720" tIns="27432" bIns="27432">
            <a:spAutoFit/>
          </a:bodyPr>
          <a:lstStyle/>
          <a:p>
            <a:pPr algn="l">
              <a:lnSpc>
                <a:spcPct val="110000"/>
              </a:lnSpc>
              <a:spcAft>
                <a:spcPts val="0"/>
              </a:spcAft>
            </a:pPr>
            <a:r>
              <a:rPr sz="2800" b="1" i="0">
                <a:solidFill>
                  <a:srgbClr val="F5BD4F"/>
                </a:solidFill>
                <a:latin typeface="Calibri"/>
              </a:rPr>
              <a:t>03</a:t>
            </a:r>
          </a:p>
        </p:txBody>
      </p:sp>
      <p:sp>
        <p:nvSpPr>
          <p:cNvPr id="16" name="TextBox 15"/>
          <p:cNvSpPr txBox="1"/>
          <p:nvPr/>
        </p:nvSpPr>
        <p:spPr>
          <a:xfrm>
            <a:off x="1508760" y="3968496"/>
            <a:ext cx="4297680" cy="411480"/>
          </a:xfrm>
          <a:prstGeom prst="rect">
            <a:avLst/>
          </a:prstGeom>
          <a:noFill/>
        </p:spPr>
        <p:txBody>
          <a:bodyPr wrap="square" anchor="t" lIns="45720" rIns="45720" tIns="27432" bIns="27432">
            <a:spAutoFit/>
          </a:bodyPr>
          <a:lstStyle/>
          <a:p>
            <a:pPr algn="l">
              <a:lnSpc>
                <a:spcPct val="110000"/>
              </a:lnSpc>
              <a:spcAft>
                <a:spcPts val="0"/>
              </a:spcAft>
            </a:pPr>
            <a:r>
              <a:rPr sz="1900" b="1" i="0">
                <a:solidFill>
                  <a:srgbClr val="F1F5F9"/>
                </a:solidFill>
                <a:latin typeface="Calibri"/>
              </a:rPr>
              <a:t>Exploratory Data Analysis</a:t>
            </a:r>
          </a:p>
        </p:txBody>
      </p:sp>
      <p:sp>
        <p:nvSpPr>
          <p:cNvPr id="17" name="TextBox 16"/>
          <p:cNvSpPr txBox="1"/>
          <p:nvPr/>
        </p:nvSpPr>
        <p:spPr>
          <a:xfrm>
            <a:off x="1508760" y="4361688"/>
            <a:ext cx="4297680" cy="36576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Fat tails, volatility clusters, volume quality</a:t>
            </a:r>
          </a:p>
        </p:txBody>
      </p:sp>
      <p:sp>
        <p:nvSpPr>
          <p:cNvPr id="18" name="Rounded Rectangle 17"/>
          <p:cNvSpPr/>
          <p:nvPr/>
        </p:nvSpPr>
        <p:spPr>
          <a:xfrm>
            <a:off x="548640" y="5029200"/>
            <a:ext cx="5394960" cy="10058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029200"/>
            <a:ext cx="731520" cy="1005840"/>
          </a:xfrm>
          <a:prstGeom prst="rect">
            <a:avLst/>
          </a:prstGeom>
          <a:noFill/>
        </p:spPr>
        <p:txBody>
          <a:bodyPr wrap="square" anchor="ctr" lIns="45720" rIns="45720" tIns="27432" bIns="27432">
            <a:spAutoFit/>
          </a:bodyPr>
          <a:lstStyle/>
          <a:p>
            <a:pPr algn="l">
              <a:lnSpc>
                <a:spcPct val="110000"/>
              </a:lnSpc>
              <a:spcAft>
                <a:spcPts val="0"/>
              </a:spcAft>
            </a:pPr>
            <a:r>
              <a:rPr sz="2800" b="1" i="0">
                <a:solidFill>
                  <a:srgbClr val="F5BD4F"/>
                </a:solidFill>
                <a:latin typeface="Calibri"/>
              </a:rPr>
              <a:t>04</a:t>
            </a:r>
          </a:p>
        </p:txBody>
      </p:sp>
      <p:sp>
        <p:nvSpPr>
          <p:cNvPr id="20" name="TextBox 19"/>
          <p:cNvSpPr txBox="1"/>
          <p:nvPr/>
        </p:nvSpPr>
        <p:spPr>
          <a:xfrm>
            <a:off x="1508760" y="5157216"/>
            <a:ext cx="4297680" cy="411480"/>
          </a:xfrm>
          <a:prstGeom prst="rect">
            <a:avLst/>
          </a:prstGeom>
          <a:noFill/>
        </p:spPr>
        <p:txBody>
          <a:bodyPr wrap="square" anchor="t" lIns="45720" rIns="45720" tIns="27432" bIns="27432">
            <a:spAutoFit/>
          </a:bodyPr>
          <a:lstStyle/>
          <a:p>
            <a:pPr algn="l">
              <a:lnSpc>
                <a:spcPct val="110000"/>
              </a:lnSpc>
              <a:spcAft>
                <a:spcPts val="0"/>
              </a:spcAft>
            </a:pPr>
            <a:r>
              <a:rPr sz="1900" b="1" i="0">
                <a:solidFill>
                  <a:srgbClr val="F1F5F9"/>
                </a:solidFill>
                <a:latin typeface="Calibri"/>
              </a:rPr>
              <a:t>Anomaly Detection</a:t>
            </a:r>
          </a:p>
        </p:txBody>
      </p:sp>
      <p:sp>
        <p:nvSpPr>
          <p:cNvPr id="21" name="TextBox 20"/>
          <p:cNvSpPr txBox="1"/>
          <p:nvPr/>
        </p:nvSpPr>
        <p:spPr>
          <a:xfrm>
            <a:off x="1508760" y="5550408"/>
            <a:ext cx="4297680" cy="36576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Algorithm 1: rolling Z-score · Algorithm 2: scoring</a:t>
            </a:r>
          </a:p>
        </p:txBody>
      </p:sp>
      <p:sp>
        <p:nvSpPr>
          <p:cNvPr id="22" name="Rounded Rectangle 21"/>
          <p:cNvSpPr/>
          <p:nvPr/>
        </p:nvSpPr>
        <p:spPr>
          <a:xfrm>
            <a:off x="6245352" y="1463040"/>
            <a:ext cx="5394960" cy="10058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1463040"/>
            <a:ext cx="731520" cy="1005840"/>
          </a:xfrm>
          <a:prstGeom prst="rect">
            <a:avLst/>
          </a:prstGeom>
          <a:noFill/>
        </p:spPr>
        <p:txBody>
          <a:bodyPr wrap="square" anchor="ctr" lIns="45720" rIns="45720" tIns="27432" bIns="27432">
            <a:spAutoFit/>
          </a:bodyPr>
          <a:lstStyle/>
          <a:p>
            <a:pPr algn="l">
              <a:lnSpc>
                <a:spcPct val="110000"/>
              </a:lnSpc>
              <a:spcAft>
                <a:spcPts val="0"/>
              </a:spcAft>
            </a:pPr>
            <a:r>
              <a:rPr sz="2800" b="1" i="0">
                <a:solidFill>
                  <a:srgbClr val="F5BD4F"/>
                </a:solidFill>
                <a:latin typeface="Calibri"/>
              </a:rPr>
              <a:t>05</a:t>
            </a:r>
          </a:p>
        </p:txBody>
      </p:sp>
      <p:sp>
        <p:nvSpPr>
          <p:cNvPr id="24" name="TextBox 23"/>
          <p:cNvSpPr txBox="1"/>
          <p:nvPr/>
        </p:nvSpPr>
        <p:spPr>
          <a:xfrm>
            <a:off x="7205472" y="1591056"/>
            <a:ext cx="4297680" cy="411480"/>
          </a:xfrm>
          <a:prstGeom prst="rect">
            <a:avLst/>
          </a:prstGeom>
          <a:noFill/>
        </p:spPr>
        <p:txBody>
          <a:bodyPr wrap="square" anchor="t" lIns="45720" rIns="45720" tIns="27432" bIns="27432">
            <a:spAutoFit/>
          </a:bodyPr>
          <a:lstStyle/>
          <a:p>
            <a:pPr algn="l">
              <a:lnSpc>
                <a:spcPct val="110000"/>
              </a:lnSpc>
              <a:spcAft>
                <a:spcPts val="0"/>
              </a:spcAft>
            </a:pPr>
            <a:r>
              <a:rPr sz="1900" b="1" i="0">
                <a:solidFill>
                  <a:srgbClr val="F1F5F9"/>
                </a:solidFill>
                <a:latin typeface="Calibri"/>
              </a:rPr>
              <a:t>Backtesting</a:t>
            </a:r>
          </a:p>
        </p:txBody>
      </p:sp>
      <p:sp>
        <p:nvSpPr>
          <p:cNvPr id="25" name="TextBox 24"/>
          <p:cNvSpPr txBox="1"/>
          <p:nvPr/>
        </p:nvSpPr>
        <p:spPr>
          <a:xfrm>
            <a:off x="7205472" y="1984248"/>
            <a:ext cx="4297680" cy="36576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Algorithm 3: event study · Algorithm 4: Z-test</a:t>
            </a:r>
          </a:p>
        </p:txBody>
      </p:sp>
      <p:sp>
        <p:nvSpPr>
          <p:cNvPr id="26" name="Rounded Rectangle 25"/>
          <p:cNvSpPr/>
          <p:nvPr/>
        </p:nvSpPr>
        <p:spPr>
          <a:xfrm>
            <a:off x="6245352" y="2651760"/>
            <a:ext cx="5394960" cy="10058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8232" y="2651760"/>
            <a:ext cx="731520" cy="1005840"/>
          </a:xfrm>
          <a:prstGeom prst="rect">
            <a:avLst/>
          </a:prstGeom>
          <a:noFill/>
        </p:spPr>
        <p:txBody>
          <a:bodyPr wrap="square" anchor="ctr" lIns="45720" rIns="45720" tIns="27432" bIns="27432">
            <a:spAutoFit/>
          </a:bodyPr>
          <a:lstStyle/>
          <a:p>
            <a:pPr algn="l">
              <a:lnSpc>
                <a:spcPct val="110000"/>
              </a:lnSpc>
              <a:spcAft>
                <a:spcPts val="0"/>
              </a:spcAft>
            </a:pPr>
            <a:r>
              <a:rPr sz="2800" b="1" i="0">
                <a:solidFill>
                  <a:srgbClr val="F5BD4F"/>
                </a:solidFill>
                <a:latin typeface="Calibri"/>
              </a:rPr>
              <a:t>06</a:t>
            </a:r>
          </a:p>
        </p:txBody>
      </p:sp>
      <p:sp>
        <p:nvSpPr>
          <p:cNvPr id="28" name="TextBox 27"/>
          <p:cNvSpPr txBox="1"/>
          <p:nvPr/>
        </p:nvSpPr>
        <p:spPr>
          <a:xfrm>
            <a:off x="7205472" y="2779776"/>
            <a:ext cx="4297680" cy="411480"/>
          </a:xfrm>
          <a:prstGeom prst="rect">
            <a:avLst/>
          </a:prstGeom>
          <a:noFill/>
        </p:spPr>
        <p:txBody>
          <a:bodyPr wrap="square" anchor="t" lIns="45720" rIns="45720" tIns="27432" bIns="27432">
            <a:spAutoFit/>
          </a:bodyPr>
          <a:lstStyle/>
          <a:p>
            <a:pPr algn="l">
              <a:lnSpc>
                <a:spcPct val="110000"/>
              </a:lnSpc>
              <a:spcAft>
                <a:spcPts val="0"/>
              </a:spcAft>
            </a:pPr>
            <a:r>
              <a:rPr sz="1900" b="1" i="0">
                <a:solidFill>
                  <a:srgbClr val="F1F5F9"/>
                </a:solidFill>
                <a:latin typeface="Calibri"/>
              </a:rPr>
              <a:t>Interactive Dashboard</a:t>
            </a:r>
          </a:p>
        </p:txBody>
      </p:sp>
      <p:sp>
        <p:nvSpPr>
          <p:cNvPr id="29" name="TextBox 28"/>
          <p:cNvSpPr txBox="1"/>
          <p:nvPr/>
        </p:nvSpPr>
        <p:spPr>
          <a:xfrm>
            <a:off x="7205472" y="3172968"/>
            <a:ext cx="4297680" cy="36576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Streamlit + Plotly</a:t>
            </a:r>
          </a:p>
        </p:txBody>
      </p:sp>
      <p:sp>
        <p:nvSpPr>
          <p:cNvPr id="30" name="Rounded Rectangle 29"/>
          <p:cNvSpPr/>
          <p:nvPr/>
        </p:nvSpPr>
        <p:spPr>
          <a:xfrm>
            <a:off x="6245352" y="3840480"/>
            <a:ext cx="5394960" cy="10058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3840480"/>
            <a:ext cx="731520" cy="1005840"/>
          </a:xfrm>
          <a:prstGeom prst="rect">
            <a:avLst/>
          </a:prstGeom>
          <a:noFill/>
        </p:spPr>
        <p:txBody>
          <a:bodyPr wrap="square" anchor="ctr" lIns="45720" rIns="45720" tIns="27432" bIns="27432">
            <a:spAutoFit/>
          </a:bodyPr>
          <a:lstStyle/>
          <a:p>
            <a:pPr algn="l">
              <a:lnSpc>
                <a:spcPct val="110000"/>
              </a:lnSpc>
              <a:spcAft>
                <a:spcPts val="0"/>
              </a:spcAft>
            </a:pPr>
            <a:r>
              <a:rPr sz="2800" b="1" i="0">
                <a:solidFill>
                  <a:srgbClr val="F5BD4F"/>
                </a:solidFill>
                <a:latin typeface="Calibri"/>
              </a:rPr>
              <a:t>07</a:t>
            </a:r>
          </a:p>
        </p:txBody>
      </p:sp>
      <p:sp>
        <p:nvSpPr>
          <p:cNvPr id="32" name="TextBox 31"/>
          <p:cNvSpPr txBox="1"/>
          <p:nvPr/>
        </p:nvSpPr>
        <p:spPr>
          <a:xfrm>
            <a:off x="7205472" y="3968496"/>
            <a:ext cx="4297680" cy="411480"/>
          </a:xfrm>
          <a:prstGeom prst="rect">
            <a:avLst/>
          </a:prstGeom>
          <a:noFill/>
        </p:spPr>
        <p:txBody>
          <a:bodyPr wrap="square" anchor="t" lIns="45720" rIns="45720" tIns="27432" bIns="27432">
            <a:spAutoFit/>
          </a:bodyPr>
          <a:lstStyle/>
          <a:p>
            <a:pPr algn="l">
              <a:lnSpc>
                <a:spcPct val="110000"/>
              </a:lnSpc>
              <a:spcAft>
                <a:spcPts val="0"/>
              </a:spcAft>
            </a:pPr>
            <a:r>
              <a:rPr sz="1900" b="1" i="0">
                <a:solidFill>
                  <a:srgbClr val="F1F5F9"/>
                </a:solidFill>
                <a:latin typeface="Calibri"/>
              </a:rPr>
              <a:t>Findings &amp; Limitations</a:t>
            </a:r>
          </a:p>
        </p:txBody>
      </p:sp>
      <p:sp>
        <p:nvSpPr>
          <p:cNvPr id="33" name="TextBox 32"/>
          <p:cNvSpPr txBox="1"/>
          <p:nvPr/>
        </p:nvSpPr>
        <p:spPr>
          <a:xfrm>
            <a:off x="7205472" y="4361688"/>
            <a:ext cx="4297680" cy="36576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What the data says — and what it can't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Problem &amp; Motivation</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INTRODUCTION</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3</a:t>
            </a:r>
          </a:p>
        </p:txBody>
      </p:sp>
      <p:sp>
        <p:nvSpPr>
          <p:cNvPr id="7" name="Rounded Rectangle 6"/>
          <p:cNvSpPr/>
          <p:nvPr/>
        </p:nvSpPr>
        <p:spPr>
          <a:xfrm>
            <a:off x="548640" y="1417320"/>
            <a:ext cx="525780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485546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INSPIRATION: PUMP-AND-DUMP</a:t>
            </a:r>
          </a:p>
        </p:txBody>
      </p:sp>
      <p:sp>
        <p:nvSpPr>
          <p:cNvPr id="9" name="TextBox 8"/>
          <p:cNvSpPr txBox="1"/>
          <p:nvPr/>
        </p:nvSpPr>
        <p:spPr>
          <a:xfrm>
            <a:off x="749808" y="1828800"/>
            <a:ext cx="4846320" cy="1463040"/>
          </a:xfrm>
          <a:prstGeom prst="rect">
            <a:avLst/>
          </a:prstGeom>
          <a:noFill/>
        </p:spPr>
        <p:txBody>
          <a:bodyPr wrap="square" anchor="t" lIns="45720" rIns="45720" tIns="27432" bIns="27432">
            <a:spAutoFit/>
          </a:bodyPr>
          <a:lstStyle/>
          <a:p>
            <a:pPr algn="l">
              <a:lnSpc>
                <a:spcPct val="110000"/>
              </a:lnSpc>
              <a:spcAft>
                <a:spcPts val="600"/>
              </a:spcAft>
            </a:pPr>
            <a:r>
              <a:rPr sz="1600" b="0" i="0">
                <a:solidFill>
                  <a:srgbClr val="F1F5F9"/>
                </a:solidFill>
                <a:latin typeface="Calibri"/>
              </a:rPr>
              <a:t>In small-cap crypto, groups buy a coin together. The price “pumps” on heavy volume, then they sell and the price “dumps”.</a:t>
            </a:r>
          </a:p>
        </p:txBody>
      </p:sp>
      <p:sp>
        <p:nvSpPr>
          <p:cNvPr id="10" name="Rounded Rectangle 9"/>
          <p:cNvSpPr/>
          <p:nvPr/>
        </p:nvSpPr>
        <p:spPr>
          <a:xfrm>
            <a:off x="749808" y="3246120"/>
            <a:ext cx="1371600" cy="50292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3246120"/>
            <a:ext cx="1371600" cy="502920"/>
          </a:xfrm>
          <a:prstGeom prst="rect">
            <a:avLst/>
          </a:prstGeom>
          <a:noFill/>
        </p:spPr>
        <p:txBody>
          <a:bodyPr wrap="square" anchor="ctr" lIns="45720" rIns="45720" tIns="27432" bIns="27432">
            <a:spAutoFit/>
          </a:bodyPr>
          <a:lstStyle/>
          <a:p>
            <a:pPr algn="ctr">
              <a:lnSpc>
                <a:spcPct val="110000"/>
              </a:lnSpc>
              <a:spcAft>
                <a:spcPts val="0"/>
              </a:spcAft>
            </a:pPr>
            <a:r>
              <a:rPr sz="1300" b="1" i="0">
                <a:solidFill>
                  <a:srgbClr val="10B981"/>
                </a:solidFill>
                <a:latin typeface="Calibri"/>
              </a:rPr>
              <a:t>Price spike</a:t>
            </a:r>
          </a:p>
        </p:txBody>
      </p:sp>
      <p:sp>
        <p:nvSpPr>
          <p:cNvPr id="12" name="Right Arrow 11"/>
          <p:cNvSpPr/>
          <p:nvPr/>
        </p:nvSpPr>
        <p:spPr>
          <a:xfrm>
            <a:off x="2148840" y="3364992"/>
            <a:ext cx="256032" cy="256032"/>
          </a:xfrm>
          <a:prstGeom prst="rightArrow">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441448" y="3246120"/>
            <a:ext cx="1371600" cy="50292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41448" y="3246120"/>
            <a:ext cx="1371600" cy="502920"/>
          </a:xfrm>
          <a:prstGeom prst="rect">
            <a:avLst/>
          </a:prstGeom>
          <a:noFill/>
        </p:spPr>
        <p:txBody>
          <a:bodyPr wrap="square" anchor="ctr" lIns="45720" rIns="45720" tIns="27432" bIns="27432">
            <a:spAutoFit/>
          </a:bodyPr>
          <a:lstStyle/>
          <a:p>
            <a:pPr algn="ctr">
              <a:lnSpc>
                <a:spcPct val="110000"/>
              </a:lnSpc>
              <a:spcAft>
                <a:spcPts val="0"/>
              </a:spcAft>
            </a:pPr>
            <a:r>
              <a:rPr sz="1300" b="1" i="0">
                <a:solidFill>
                  <a:srgbClr val="38BDF8"/>
                </a:solidFill>
                <a:latin typeface="Calibri"/>
              </a:rPr>
              <a:t>Heavy volume</a:t>
            </a:r>
          </a:p>
        </p:txBody>
      </p:sp>
      <p:sp>
        <p:nvSpPr>
          <p:cNvPr id="15" name="Right Arrow 14"/>
          <p:cNvSpPr/>
          <p:nvPr/>
        </p:nvSpPr>
        <p:spPr>
          <a:xfrm>
            <a:off x="3840480" y="3364992"/>
            <a:ext cx="256032" cy="256032"/>
          </a:xfrm>
          <a:prstGeom prst="rightArrow">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33088" y="3246120"/>
            <a:ext cx="1371600" cy="50292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33088" y="3246120"/>
            <a:ext cx="1371600" cy="502920"/>
          </a:xfrm>
          <a:prstGeom prst="rect">
            <a:avLst/>
          </a:prstGeom>
          <a:noFill/>
        </p:spPr>
        <p:txBody>
          <a:bodyPr wrap="square" anchor="ctr" lIns="45720" rIns="45720" tIns="27432" bIns="27432">
            <a:spAutoFit/>
          </a:bodyPr>
          <a:lstStyle/>
          <a:p>
            <a:pPr algn="ctr">
              <a:lnSpc>
                <a:spcPct val="110000"/>
              </a:lnSpc>
              <a:spcAft>
                <a:spcPts val="0"/>
              </a:spcAft>
            </a:pPr>
            <a:r>
              <a:rPr sz="1300" b="1" i="0">
                <a:solidFill>
                  <a:srgbClr val="F43F5E"/>
                </a:solidFill>
                <a:latin typeface="Calibri"/>
              </a:rPr>
              <a:t>Crash</a:t>
            </a:r>
          </a:p>
        </p:txBody>
      </p:sp>
      <p:sp>
        <p:nvSpPr>
          <p:cNvPr id="18" name="TextBox 17"/>
          <p:cNvSpPr txBox="1"/>
          <p:nvPr/>
        </p:nvSpPr>
        <p:spPr>
          <a:xfrm>
            <a:off x="749808" y="4023360"/>
            <a:ext cx="4846320" cy="2011680"/>
          </a:xfrm>
          <a:prstGeom prst="rect">
            <a:avLst/>
          </a:prstGeom>
          <a:noFill/>
        </p:spPr>
        <p:txBody>
          <a:bodyPr wrap="square" anchor="t" lIns="45720" rIns="45720" tIns="27432" bIns="27432">
            <a:spAutoFit/>
          </a:bodyPr>
          <a:lstStyle/>
          <a:p>
            <a:pPr algn="l" marL="256032" indent="-256032">
              <a:lnSpc>
                <a:spcPct val="110000"/>
              </a:lnSpc>
              <a:spcAft>
                <a:spcPts val="600"/>
              </a:spcAft>
              <a:buClr>
                <a:srgbClr val="F5BD4F"/>
              </a:buClr>
              <a:buChar char="•"/>
            </a:pPr>
            <a:r>
              <a:rPr sz="1600" b="0" i="0">
                <a:solidFill>
                  <a:srgbClr val="F1F5F9"/>
                </a:solidFill>
                <a:latin typeface="Calibri"/>
              </a:rPr>
              <a:t>PumpWatch idea: flag these spikes using only price and volume statistics.</a:t>
            </a:r>
          </a:p>
          <a:p>
            <a:pPr algn="l" marL="256032" indent="-256032">
              <a:lnSpc>
                <a:spcPct val="110000"/>
              </a:lnSpc>
              <a:spcAft>
                <a:spcPts val="600"/>
              </a:spcAft>
              <a:buClr>
                <a:srgbClr val="F5BD4F"/>
              </a:buClr>
              <a:buChar char="•"/>
            </a:pPr>
            <a:r>
              <a:rPr sz="1600" b="1" i="0">
                <a:solidFill>
                  <a:srgbClr val="F5BD4F"/>
                </a:solidFill>
                <a:latin typeface="Calibri"/>
              </a:rPr>
              <a:t>Our twist: </a:t>
            </a:r>
            <a:r>
              <a:rPr sz="1600" b="0" i="0">
                <a:solidFill>
                  <a:srgbClr val="F1F5F9"/>
                </a:solidFill>
                <a:latin typeface="Calibri"/>
              </a:rPr>
              <a:t>apply the same idea to gold futures.</a:t>
            </a:r>
          </a:p>
        </p:txBody>
      </p:sp>
      <p:sp>
        <p:nvSpPr>
          <p:cNvPr id="19" name="Rounded Rectangle 18"/>
          <p:cNvSpPr/>
          <p:nvPr/>
        </p:nvSpPr>
        <p:spPr>
          <a:xfrm>
            <a:off x="6035040" y="1417320"/>
            <a:ext cx="5605272" cy="2240280"/>
          </a:xfrm>
          <a:prstGeom prst="roundRect">
            <a:avLst>
              <a:gd name="adj" fmla="val 6000"/>
            </a:avLst>
          </a:prstGeom>
          <a:solidFill>
            <a:srgbClr val="0B1722"/>
          </a:solidFill>
          <a:ln w="12700">
            <a:solidFill>
              <a:srgbClr val="F5B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6207" y="1545336"/>
            <a:ext cx="520293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F5BD4F"/>
                </a:solidFill>
                <a:latin typeface="Calibri"/>
              </a:rPr>
              <a:t>RESEARCH QUESTION</a:t>
            </a:r>
          </a:p>
        </p:txBody>
      </p:sp>
      <p:sp>
        <p:nvSpPr>
          <p:cNvPr id="21" name="TextBox 20"/>
          <p:cNvSpPr txBox="1"/>
          <p:nvPr/>
        </p:nvSpPr>
        <p:spPr>
          <a:xfrm>
            <a:off x="6236208" y="1828800"/>
            <a:ext cx="5212080" cy="1737360"/>
          </a:xfrm>
          <a:prstGeom prst="rect">
            <a:avLst/>
          </a:prstGeom>
          <a:noFill/>
        </p:spPr>
        <p:txBody>
          <a:bodyPr wrap="square" anchor="t" lIns="45720" rIns="45720" tIns="27432" bIns="27432">
            <a:spAutoFit/>
          </a:bodyPr>
          <a:lstStyle/>
          <a:p>
            <a:pPr algn="l">
              <a:lnSpc>
                <a:spcPct val="110000"/>
              </a:lnSpc>
              <a:spcAft>
                <a:spcPts val="600"/>
              </a:spcAft>
            </a:pPr>
            <a:r>
              <a:rPr sz="2100" b="1" i="0">
                <a:solidFill>
                  <a:srgbClr val="F1F5F9"/>
                </a:solidFill>
                <a:latin typeface="Calibri"/>
              </a:rPr>
              <a:t>Can unusual price and volume moves in gold be detected statistically — and are upward spikes followed by declines?</a:t>
            </a:r>
          </a:p>
        </p:txBody>
      </p:sp>
      <p:sp>
        <p:nvSpPr>
          <p:cNvPr id="22" name="Rounded Rectangle 21"/>
          <p:cNvSpPr/>
          <p:nvPr/>
        </p:nvSpPr>
        <p:spPr>
          <a:xfrm>
            <a:off x="6035040" y="3840480"/>
            <a:ext cx="5605272" cy="150876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6207" y="3968496"/>
            <a:ext cx="520293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WHY GOLD?</a:t>
            </a:r>
          </a:p>
        </p:txBody>
      </p:sp>
      <p:sp>
        <p:nvSpPr>
          <p:cNvPr id="24" name="TextBox 23"/>
          <p:cNvSpPr txBox="1"/>
          <p:nvPr/>
        </p:nvSpPr>
        <p:spPr>
          <a:xfrm>
            <a:off x="6236208" y="4187952"/>
            <a:ext cx="5257800" cy="1188720"/>
          </a:xfrm>
          <a:prstGeom prst="rect">
            <a:avLst/>
          </a:prstGeom>
          <a:noFill/>
        </p:spPr>
        <p:txBody>
          <a:bodyPr wrap="square" anchor="t" lIns="45720" rIns="45720" tIns="27432" bIns="27432">
            <a:spAutoFit/>
          </a:bodyPr>
          <a:lstStyle/>
          <a:p>
            <a:pPr algn="l" marL="256032" indent="-256032">
              <a:lnSpc>
                <a:spcPct val="110000"/>
              </a:lnSpc>
              <a:spcAft>
                <a:spcPts val="400"/>
              </a:spcAft>
              <a:buClr>
                <a:srgbClr val="F5BD4F"/>
              </a:buClr>
              <a:buChar char="•"/>
            </a:pPr>
            <a:r>
              <a:rPr sz="1500" b="0" i="0">
                <a:solidFill>
                  <a:srgbClr val="F1F5F9"/>
                </a:solidFill>
                <a:latin typeface="Calibri"/>
              </a:rPr>
              <a:t>Huge, liquid market: a tough test for a pattern seen in crypto</a:t>
            </a:r>
          </a:p>
          <a:p>
            <a:pPr algn="l" marL="256032" indent="-256032">
              <a:lnSpc>
                <a:spcPct val="110000"/>
              </a:lnSpc>
              <a:spcAft>
                <a:spcPts val="400"/>
              </a:spcAft>
              <a:buClr>
                <a:srgbClr val="F5BD4F"/>
              </a:buClr>
              <a:buChar char="•"/>
            </a:pPr>
            <a:r>
              <a:rPr sz="1500" b="0" i="0">
                <a:solidFill>
                  <a:srgbClr val="F1F5F9"/>
                </a:solidFill>
                <a:latin typeface="Calibri"/>
              </a:rPr>
              <a:t>26 years of free daily data, and spikes follow real news</a:t>
            </a:r>
          </a:p>
        </p:txBody>
      </p:sp>
      <p:sp>
        <p:nvSpPr>
          <p:cNvPr id="25" name="Rounded Rectangle 24"/>
          <p:cNvSpPr/>
          <p:nvPr/>
        </p:nvSpPr>
        <p:spPr>
          <a:xfrm>
            <a:off x="6035040" y="5577840"/>
            <a:ext cx="1298448" cy="50292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5577840"/>
            <a:ext cx="1298448" cy="502920"/>
          </a:xfrm>
          <a:prstGeom prst="rect">
            <a:avLst/>
          </a:prstGeom>
          <a:noFill/>
        </p:spPr>
        <p:txBody>
          <a:bodyPr wrap="square" anchor="ctr" lIns="45720" rIns="45720" tIns="27432" bIns="27432">
            <a:spAutoFit/>
          </a:bodyPr>
          <a:lstStyle/>
          <a:p>
            <a:pPr algn="ctr">
              <a:lnSpc>
                <a:spcPct val="110000"/>
              </a:lnSpc>
              <a:spcAft>
                <a:spcPts val="0"/>
              </a:spcAft>
            </a:pPr>
            <a:r>
              <a:rPr sz="1400" b="1" i="0">
                <a:solidFill>
                  <a:srgbClr val="F5BD4F"/>
                </a:solidFill>
                <a:latin typeface="Calibri"/>
              </a:rPr>
              <a:t>Detect</a:t>
            </a:r>
          </a:p>
        </p:txBody>
      </p:sp>
      <p:sp>
        <p:nvSpPr>
          <p:cNvPr id="27" name="Rounded Rectangle 26"/>
          <p:cNvSpPr/>
          <p:nvPr/>
        </p:nvSpPr>
        <p:spPr>
          <a:xfrm>
            <a:off x="7470648" y="5577840"/>
            <a:ext cx="1298448" cy="50292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0648" y="5577840"/>
            <a:ext cx="1298448" cy="502920"/>
          </a:xfrm>
          <a:prstGeom prst="rect">
            <a:avLst/>
          </a:prstGeom>
          <a:noFill/>
        </p:spPr>
        <p:txBody>
          <a:bodyPr wrap="square" anchor="ctr" lIns="45720" rIns="45720" tIns="27432" bIns="27432">
            <a:spAutoFit/>
          </a:bodyPr>
          <a:lstStyle/>
          <a:p>
            <a:pPr algn="ctr">
              <a:lnSpc>
                <a:spcPct val="110000"/>
              </a:lnSpc>
              <a:spcAft>
                <a:spcPts val="0"/>
              </a:spcAft>
            </a:pPr>
            <a:r>
              <a:rPr sz="1400" b="1" i="0">
                <a:solidFill>
                  <a:srgbClr val="F5BD4F"/>
                </a:solidFill>
                <a:latin typeface="Calibri"/>
              </a:rPr>
              <a:t>Score</a:t>
            </a:r>
          </a:p>
        </p:txBody>
      </p:sp>
      <p:sp>
        <p:nvSpPr>
          <p:cNvPr id="29" name="Rounded Rectangle 28"/>
          <p:cNvSpPr/>
          <p:nvPr/>
        </p:nvSpPr>
        <p:spPr>
          <a:xfrm>
            <a:off x="8906256" y="5577840"/>
            <a:ext cx="1298448" cy="50292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06256" y="5577840"/>
            <a:ext cx="1298448" cy="502920"/>
          </a:xfrm>
          <a:prstGeom prst="rect">
            <a:avLst/>
          </a:prstGeom>
          <a:noFill/>
        </p:spPr>
        <p:txBody>
          <a:bodyPr wrap="square" anchor="ctr" lIns="45720" rIns="45720" tIns="27432" bIns="27432">
            <a:spAutoFit/>
          </a:bodyPr>
          <a:lstStyle/>
          <a:p>
            <a:pPr algn="ctr">
              <a:lnSpc>
                <a:spcPct val="110000"/>
              </a:lnSpc>
              <a:spcAft>
                <a:spcPts val="0"/>
              </a:spcAft>
            </a:pPr>
            <a:r>
              <a:rPr sz="1400" b="1" i="0">
                <a:solidFill>
                  <a:srgbClr val="F5BD4F"/>
                </a:solidFill>
                <a:latin typeface="Calibri"/>
              </a:rPr>
              <a:t>Backtest</a:t>
            </a:r>
          </a:p>
        </p:txBody>
      </p:sp>
      <p:sp>
        <p:nvSpPr>
          <p:cNvPr id="31" name="Rounded Rectangle 30"/>
          <p:cNvSpPr/>
          <p:nvPr/>
        </p:nvSpPr>
        <p:spPr>
          <a:xfrm>
            <a:off x="10341863" y="5577840"/>
            <a:ext cx="1298448" cy="50292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41863" y="5577840"/>
            <a:ext cx="1298448" cy="502920"/>
          </a:xfrm>
          <a:prstGeom prst="rect">
            <a:avLst/>
          </a:prstGeom>
          <a:noFill/>
        </p:spPr>
        <p:txBody>
          <a:bodyPr wrap="square" anchor="ctr" lIns="45720" rIns="45720" tIns="27432" bIns="27432">
            <a:spAutoFit/>
          </a:bodyPr>
          <a:lstStyle/>
          <a:p>
            <a:pPr algn="ctr">
              <a:lnSpc>
                <a:spcPct val="110000"/>
              </a:lnSpc>
              <a:spcAft>
                <a:spcPts val="0"/>
              </a:spcAft>
            </a:pPr>
            <a:r>
              <a:rPr sz="1400" b="1" i="0">
                <a:solidFill>
                  <a:srgbClr val="F5BD4F"/>
                </a:solidFill>
                <a:latin typeface="Calibri"/>
              </a:rPr>
              <a:t>Visualize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Dataset</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DATA</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4</a:t>
            </a:r>
          </a:p>
        </p:txBody>
      </p:sp>
      <p:sp>
        <p:nvSpPr>
          <p:cNvPr id="7" name="Rounded Rectangle 6"/>
          <p:cNvSpPr/>
          <p:nvPr/>
        </p:nvSpPr>
        <p:spPr>
          <a:xfrm>
            <a:off x="548640" y="1417320"/>
            <a:ext cx="448056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407822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AT A GLANCE</a:t>
            </a:r>
          </a:p>
        </p:txBody>
      </p:sp>
      <p:sp>
        <p:nvSpPr>
          <p:cNvPr id="9" name="TextBox 8"/>
          <p:cNvSpPr txBox="1"/>
          <p:nvPr/>
        </p:nvSpPr>
        <p:spPr>
          <a:xfrm>
            <a:off x="749808" y="1874519"/>
            <a:ext cx="4114800" cy="274320"/>
          </a:xfrm>
          <a:prstGeom prst="rect">
            <a:avLst/>
          </a:prstGeom>
          <a:noFill/>
        </p:spPr>
        <p:txBody>
          <a:bodyPr wrap="square" anchor="t" lIns="45720" rIns="45720" tIns="27432" bIns="27432">
            <a:spAutoFit/>
          </a:bodyPr>
          <a:lstStyle/>
          <a:p>
            <a:pPr algn="l">
              <a:lnSpc>
                <a:spcPct val="110000"/>
              </a:lnSpc>
              <a:spcAft>
                <a:spcPts val="0"/>
              </a:spcAft>
            </a:pPr>
            <a:r>
              <a:rPr sz="1100" b="1" i="0">
                <a:solidFill>
                  <a:srgbClr val="64748B"/>
                </a:solidFill>
                <a:latin typeface="Calibri"/>
              </a:rPr>
              <a:t>INSTRUMENT</a:t>
            </a:r>
          </a:p>
        </p:txBody>
      </p:sp>
      <p:sp>
        <p:nvSpPr>
          <p:cNvPr id="10" name="TextBox 9"/>
          <p:cNvSpPr txBox="1"/>
          <p:nvPr/>
        </p:nvSpPr>
        <p:spPr>
          <a:xfrm>
            <a:off x="749808" y="2121408"/>
            <a:ext cx="4114800" cy="365760"/>
          </a:xfrm>
          <a:prstGeom prst="rect">
            <a:avLst/>
          </a:prstGeom>
          <a:noFill/>
        </p:spPr>
        <p:txBody>
          <a:bodyPr wrap="square" anchor="t" lIns="45720" rIns="45720" tIns="27432" bIns="27432">
            <a:spAutoFit/>
          </a:bodyPr>
          <a:lstStyle/>
          <a:p>
            <a:pPr algn="l">
              <a:lnSpc>
                <a:spcPct val="110000"/>
              </a:lnSpc>
              <a:spcAft>
                <a:spcPts val="0"/>
              </a:spcAft>
            </a:pPr>
            <a:r>
              <a:rPr sz="1700" b="0" i="0">
                <a:solidFill>
                  <a:srgbClr val="F1F5F9"/>
                </a:solidFill>
                <a:latin typeface="Calibri"/>
              </a:rPr>
              <a:t>COMEX gold futures (GC=F)</a:t>
            </a:r>
          </a:p>
        </p:txBody>
      </p:sp>
      <p:sp>
        <p:nvSpPr>
          <p:cNvPr id="11" name="TextBox 10"/>
          <p:cNvSpPr txBox="1"/>
          <p:nvPr/>
        </p:nvSpPr>
        <p:spPr>
          <a:xfrm>
            <a:off x="749808" y="2560320"/>
            <a:ext cx="4114800" cy="274320"/>
          </a:xfrm>
          <a:prstGeom prst="rect">
            <a:avLst/>
          </a:prstGeom>
          <a:noFill/>
        </p:spPr>
        <p:txBody>
          <a:bodyPr wrap="square" anchor="t" lIns="45720" rIns="45720" tIns="27432" bIns="27432">
            <a:spAutoFit/>
          </a:bodyPr>
          <a:lstStyle/>
          <a:p>
            <a:pPr algn="l">
              <a:lnSpc>
                <a:spcPct val="110000"/>
              </a:lnSpc>
              <a:spcAft>
                <a:spcPts val="0"/>
              </a:spcAft>
            </a:pPr>
            <a:r>
              <a:rPr sz="1100" b="1" i="0">
                <a:solidFill>
                  <a:srgbClr val="64748B"/>
                </a:solidFill>
                <a:latin typeface="Calibri"/>
              </a:rPr>
              <a:t>SOURCE</a:t>
            </a:r>
          </a:p>
        </p:txBody>
      </p:sp>
      <p:sp>
        <p:nvSpPr>
          <p:cNvPr id="12" name="TextBox 11"/>
          <p:cNvSpPr txBox="1"/>
          <p:nvPr/>
        </p:nvSpPr>
        <p:spPr>
          <a:xfrm>
            <a:off x="749808" y="2807208"/>
            <a:ext cx="4114800" cy="365760"/>
          </a:xfrm>
          <a:prstGeom prst="rect">
            <a:avLst/>
          </a:prstGeom>
          <a:noFill/>
        </p:spPr>
        <p:txBody>
          <a:bodyPr wrap="square" anchor="t" lIns="45720" rIns="45720" tIns="27432" bIns="27432">
            <a:spAutoFit/>
          </a:bodyPr>
          <a:lstStyle/>
          <a:p>
            <a:pPr algn="l">
              <a:lnSpc>
                <a:spcPct val="110000"/>
              </a:lnSpc>
              <a:spcAft>
                <a:spcPts val="0"/>
              </a:spcAft>
            </a:pPr>
            <a:r>
              <a:rPr sz="1700" b="0" i="0">
                <a:solidFill>
                  <a:srgbClr val="F1F5F9"/>
                </a:solidFill>
                <a:latin typeface="Calibri"/>
              </a:rPr>
              <a:t>Yahoo Finance via yfinance</a:t>
            </a:r>
          </a:p>
        </p:txBody>
      </p:sp>
      <p:sp>
        <p:nvSpPr>
          <p:cNvPr id="13" name="TextBox 12"/>
          <p:cNvSpPr txBox="1"/>
          <p:nvPr/>
        </p:nvSpPr>
        <p:spPr>
          <a:xfrm>
            <a:off x="749808" y="3246120"/>
            <a:ext cx="4114800" cy="274320"/>
          </a:xfrm>
          <a:prstGeom prst="rect">
            <a:avLst/>
          </a:prstGeom>
          <a:noFill/>
        </p:spPr>
        <p:txBody>
          <a:bodyPr wrap="square" anchor="t" lIns="45720" rIns="45720" tIns="27432" bIns="27432">
            <a:spAutoFit/>
          </a:bodyPr>
          <a:lstStyle/>
          <a:p>
            <a:pPr algn="l">
              <a:lnSpc>
                <a:spcPct val="110000"/>
              </a:lnSpc>
              <a:spcAft>
                <a:spcPts val="0"/>
              </a:spcAft>
            </a:pPr>
            <a:r>
              <a:rPr sz="1100" b="1" i="0">
                <a:solidFill>
                  <a:srgbClr val="64748B"/>
                </a:solidFill>
                <a:latin typeface="Calibri"/>
              </a:rPr>
              <a:t>PERIOD</a:t>
            </a:r>
          </a:p>
        </p:txBody>
      </p:sp>
      <p:sp>
        <p:nvSpPr>
          <p:cNvPr id="14" name="TextBox 13"/>
          <p:cNvSpPr txBox="1"/>
          <p:nvPr/>
        </p:nvSpPr>
        <p:spPr>
          <a:xfrm>
            <a:off x="749808" y="3493008"/>
            <a:ext cx="4114800" cy="365760"/>
          </a:xfrm>
          <a:prstGeom prst="rect">
            <a:avLst/>
          </a:prstGeom>
          <a:noFill/>
        </p:spPr>
        <p:txBody>
          <a:bodyPr wrap="square" anchor="t" lIns="45720" rIns="45720" tIns="27432" bIns="27432">
            <a:spAutoFit/>
          </a:bodyPr>
          <a:lstStyle/>
          <a:p>
            <a:pPr algn="l">
              <a:lnSpc>
                <a:spcPct val="110000"/>
              </a:lnSpc>
              <a:spcAft>
                <a:spcPts val="0"/>
              </a:spcAft>
            </a:pPr>
            <a:r>
              <a:rPr sz="1700" b="0" i="0">
                <a:solidFill>
                  <a:srgbClr val="F1F5F9"/>
                </a:solidFill>
                <a:latin typeface="Calibri"/>
              </a:rPr>
              <a:t>30 Aug 2000 – 23 Oct 2026</a:t>
            </a:r>
          </a:p>
        </p:txBody>
      </p:sp>
      <p:sp>
        <p:nvSpPr>
          <p:cNvPr id="15" name="TextBox 14"/>
          <p:cNvSpPr txBox="1"/>
          <p:nvPr/>
        </p:nvSpPr>
        <p:spPr>
          <a:xfrm>
            <a:off x="749808" y="3931920"/>
            <a:ext cx="4114800" cy="274320"/>
          </a:xfrm>
          <a:prstGeom prst="rect">
            <a:avLst/>
          </a:prstGeom>
          <a:noFill/>
        </p:spPr>
        <p:txBody>
          <a:bodyPr wrap="square" anchor="t" lIns="45720" rIns="45720" tIns="27432" bIns="27432">
            <a:spAutoFit/>
          </a:bodyPr>
          <a:lstStyle/>
          <a:p>
            <a:pPr algn="l">
              <a:lnSpc>
                <a:spcPct val="110000"/>
              </a:lnSpc>
              <a:spcAft>
                <a:spcPts val="0"/>
              </a:spcAft>
            </a:pPr>
            <a:r>
              <a:rPr sz="1100" b="1" i="0">
                <a:solidFill>
                  <a:srgbClr val="64748B"/>
                </a:solidFill>
                <a:latin typeface="Calibri"/>
              </a:rPr>
              <a:t>FREQUENCY</a:t>
            </a:r>
          </a:p>
        </p:txBody>
      </p:sp>
      <p:sp>
        <p:nvSpPr>
          <p:cNvPr id="16" name="TextBox 15"/>
          <p:cNvSpPr txBox="1"/>
          <p:nvPr/>
        </p:nvSpPr>
        <p:spPr>
          <a:xfrm>
            <a:off x="749808" y="4178808"/>
            <a:ext cx="4114800" cy="365760"/>
          </a:xfrm>
          <a:prstGeom prst="rect">
            <a:avLst/>
          </a:prstGeom>
          <a:noFill/>
        </p:spPr>
        <p:txBody>
          <a:bodyPr wrap="square" anchor="t" lIns="45720" rIns="45720" tIns="27432" bIns="27432">
            <a:spAutoFit/>
          </a:bodyPr>
          <a:lstStyle/>
          <a:p>
            <a:pPr algn="l">
              <a:lnSpc>
                <a:spcPct val="110000"/>
              </a:lnSpc>
              <a:spcAft>
                <a:spcPts val="0"/>
              </a:spcAft>
            </a:pPr>
            <a:r>
              <a:rPr sz="1700" b="0" i="0">
                <a:solidFill>
                  <a:srgbClr val="F1F5F9"/>
                </a:solidFill>
                <a:latin typeface="Calibri"/>
              </a:rPr>
              <a:t>Daily trading sessions</a:t>
            </a:r>
          </a:p>
        </p:txBody>
      </p:sp>
      <p:sp>
        <p:nvSpPr>
          <p:cNvPr id="17" name="TextBox 16"/>
          <p:cNvSpPr txBox="1"/>
          <p:nvPr/>
        </p:nvSpPr>
        <p:spPr>
          <a:xfrm>
            <a:off x="749808" y="4617720"/>
            <a:ext cx="4114800" cy="274320"/>
          </a:xfrm>
          <a:prstGeom prst="rect">
            <a:avLst/>
          </a:prstGeom>
          <a:noFill/>
        </p:spPr>
        <p:txBody>
          <a:bodyPr wrap="square" anchor="t" lIns="45720" rIns="45720" tIns="27432" bIns="27432">
            <a:spAutoFit/>
          </a:bodyPr>
          <a:lstStyle/>
          <a:p>
            <a:pPr algn="l">
              <a:lnSpc>
                <a:spcPct val="110000"/>
              </a:lnSpc>
              <a:spcAft>
                <a:spcPts val="0"/>
              </a:spcAft>
            </a:pPr>
            <a:r>
              <a:rPr sz="1100" b="1" i="0">
                <a:solidFill>
                  <a:srgbClr val="64748B"/>
                </a:solidFill>
                <a:latin typeface="Calibri"/>
              </a:rPr>
              <a:t>ROWS</a:t>
            </a:r>
          </a:p>
        </p:txBody>
      </p:sp>
      <p:sp>
        <p:nvSpPr>
          <p:cNvPr id="18" name="TextBox 17"/>
          <p:cNvSpPr txBox="1"/>
          <p:nvPr/>
        </p:nvSpPr>
        <p:spPr>
          <a:xfrm>
            <a:off x="749808" y="4864608"/>
            <a:ext cx="4114800" cy="365760"/>
          </a:xfrm>
          <a:prstGeom prst="rect">
            <a:avLst/>
          </a:prstGeom>
          <a:noFill/>
        </p:spPr>
        <p:txBody>
          <a:bodyPr wrap="square" anchor="t" lIns="45720" rIns="45720" tIns="27432" bIns="27432">
            <a:spAutoFit/>
          </a:bodyPr>
          <a:lstStyle/>
          <a:p>
            <a:pPr algn="l">
              <a:lnSpc>
                <a:spcPct val="110000"/>
              </a:lnSpc>
              <a:spcAft>
                <a:spcPts val="0"/>
              </a:spcAft>
            </a:pPr>
            <a:r>
              <a:rPr sz="1700" b="0" i="0">
                <a:solidFill>
                  <a:srgbClr val="F1F5F9"/>
                </a:solidFill>
                <a:latin typeface="Calibri"/>
              </a:rPr>
              <a:t>6,563 raw → 6,122 clean</a:t>
            </a:r>
          </a:p>
        </p:txBody>
      </p:sp>
      <p:sp>
        <p:nvSpPr>
          <p:cNvPr id="19" name="TextBox 18"/>
          <p:cNvSpPr txBox="1"/>
          <p:nvPr/>
        </p:nvSpPr>
        <p:spPr>
          <a:xfrm>
            <a:off x="749808" y="5303520"/>
            <a:ext cx="4114800" cy="274320"/>
          </a:xfrm>
          <a:prstGeom prst="rect">
            <a:avLst/>
          </a:prstGeom>
          <a:noFill/>
        </p:spPr>
        <p:txBody>
          <a:bodyPr wrap="square" anchor="t" lIns="45720" rIns="45720" tIns="27432" bIns="27432">
            <a:spAutoFit/>
          </a:bodyPr>
          <a:lstStyle/>
          <a:p>
            <a:pPr algn="l">
              <a:lnSpc>
                <a:spcPct val="110000"/>
              </a:lnSpc>
              <a:spcAft>
                <a:spcPts val="0"/>
              </a:spcAft>
            </a:pPr>
            <a:r>
              <a:rPr sz="1100" b="1" i="0">
                <a:solidFill>
                  <a:srgbClr val="64748B"/>
                </a:solidFill>
                <a:latin typeface="Calibri"/>
              </a:rPr>
              <a:t>FIELDS</a:t>
            </a:r>
          </a:p>
        </p:txBody>
      </p:sp>
      <p:sp>
        <p:nvSpPr>
          <p:cNvPr id="20" name="TextBox 19"/>
          <p:cNvSpPr txBox="1"/>
          <p:nvPr/>
        </p:nvSpPr>
        <p:spPr>
          <a:xfrm>
            <a:off x="749808" y="5550408"/>
            <a:ext cx="4114800" cy="365760"/>
          </a:xfrm>
          <a:prstGeom prst="rect">
            <a:avLst/>
          </a:prstGeom>
          <a:noFill/>
        </p:spPr>
        <p:txBody>
          <a:bodyPr wrap="square" anchor="t" lIns="45720" rIns="45720" tIns="27432" bIns="27432">
            <a:spAutoFit/>
          </a:bodyPr>
          <a:lstStyle/>
          <a:p>
            <a:pPr algn="l">
              <a:lnSpc>
                <a:spcPct val="110000"/>
              </a:lnSpc>
              <a:spcAft>
                <a:spcPts val="0"/>
              </a:spcAft>
            </a:pPr>
            <a:r>
              <a:rPr sz="1700" b="0" i="0">
                <a:solidFill>
                  <a:srgbClr val="F1F5F9"/>
                </a:solidFill>
                <a:latin typeface="Calibri"/>
              </a:rPr>
              <a:t>Open, High, Low, Close, Volume</a:t>
            </a:r>
          </a:p>
        </p:txBody>
      </p:sp>
      <p:sp>
        <p:nvSpPr>
          <p:cNvPr id="21" name="Rounded Rectangle 20"/>
          <p:cNvSpPr/>
          <p:nvPr/>
        </p:nvSpPr>
        <p:spPr>
          <a:xfrm>
            <a:off x="5257800" y="1417320"/>
            <a:ext cx="6382512"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58968" y="1545336"/>
            <a:ext cx="598017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GOLD CLOSE PRICE, 2000–2026</a:t>
            </a:r>
          </a:p>
        </p:txBody>
      </p:sp>
      <p:pic>
        <p:nvPicPr>
          <p:cNvPr id="23" name="Picture 22" descr="price_history.png"/>
          <p:cNvPicPr>
            <a:picLocks noChangeAspect="1"/>
          </p:cNvPicPr>
          <p:nvPr/>
        </p:nvPicPr>
        <p:blipFill>
          <a:blip r:embed="rId3"/>
          <a:stretch>
            <a:fillRect/>
          </a:stretch>
        </p:blipFill>
        <p:spPr>
          <a:xfrm>
            <a:off x="5419066" y="1783080"/>
            <a:ext cx="6059978" cy="3703320"/>
          </a:xfrm>
          <a:prstGeom prst="rect">
            <a:avLst/>
          </a:prstGeom>
        </p:spPr>
      </p:pic>
      <p:sp>
        <p:nvSpPr>
          <p:cNvPr id="24" name="TextBox 23"/>
          <p:cNvSpPr txBox="1"/>
          <p:nvPr/>
        </p:nvSpPr>
        <p:spPr>
          <a:xfrm>
            <a:off x="5458968" y="5559552"/>
            <a:ext cx="5989320" cy="54864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Price rose from $274 to $4,008 per ounce, so we analyse % returns, not raw prices.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System Workflow</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ARCHITECTURE</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5</a:t>
            </a:r>
          </a:p>
        </p:txBody>
      </p:sp>
      <p:sp>
        <p:nvSpPr>
          <p:cNvPr id="7" name="Rounded Rectangle 6"/>
          <p:cNvSpPr/>
          <p:nvPr/>
        </p:nvSpPr>
        <p:spPr>
          <a:xfrm>
            <a:off x="548640" y="1600200"/>
            <a:ext cx="1965960" cy="1920240"/>
          </a:xfrm>
          <a:prstGeom prst="roundRect">
            <a:avLst>
              <a:gd name="adj" fmla="val 6000"/>
            </a:avLst>
          </a:prstGeom>
          <a:solidFill>
            <a:srgbClr val="0B1722"/>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37360"/>
            <a:ext cx="1737360" cy="274320"/>
          </a:xfrm>
          <a:prstGeom prst="rect">
            <a:avLst/>
          </a:prstGeom>
          <a:noFill/>
        </p:spPr>
        <p:txBody>
          <a:bodyPr wrap="square" anchor="t" lIns="45720" rIns="45720" tIns="27432" bIns="27432">
            <a:spAutoFit/>
          </a:bodyPr>
          <a:lstStyle/>
          <a:p>
            <a:pPr algn="l">
              <a:lnSpc>
                <a:spcPct val="110000"/>
              </a:lnSpc>
              <a:spcAft>
                <a:spcPts val="0"/>
              </a:spcAft>
            </a:pPr>
            <a:r>
              <a:rPr sz="1100" b="1" i="0">
                <a:solidFill>
                  <a:srgbClr val="64748B"/>
                </a:solidFill>
                <a:latin typeface="Calibri"/>
              </a:rPr>
              <a:t>SOURCE</a:t>
            </a:r>
          </a:p>
        </p:txBody>
      </p:sp>
      <p:sp>
        <p:nvSpPr>
          <p:cNvPr id="9" name="TextBox 8"/>
          <p:cNvSpPr txBox="1"/>
          <p:nvPr/>
        </p:nvSpPr>
        <p:spPr>
          <a:xfrm>
            <a:off x="685800" y="2029968"/>
            <a:ext cx="1737360" cy="685800"/>
          </a:xfrm>
          <a:prstGeom prst="rect">
            <a:avLst/>
          </a:prstGeom>
          <a:noFill/>
        </p:spPr>
        <p:txBody>
          <a:bodyPr wrap="square" anchor="t" lIns="45720" rIns="45720" tIns="27432" bIns="27432">
            <a:spAutoFit/>
          </a:bodyPr>
          <a:lstStyle/>
          <a:p>
            <a:pPr algn="l">
              <a:lnSpc>
                <a:spcPct val="95000"/>
              </a:lnSpc>
              <a:spcAft>
                <a:spcPts val="0"/>
              </a:spcAft>
            </a:pPr>
            <a:r>
              <a:rPr sz="1800" b="1" i="0">
                <a:solidFill>
                  <a:srgbClr val="F1F5F9"/>
                </a:solidFill>
                <a:latin typeface="Calibri"/>
              </a:rPr>
              <a:t>Yahoo Finance</a:t>
            </a:r>
          </a:p>
        </p:txBody>
      </p:sp>
      <p:sp>
        <p:nvSpPr>
          <p:cNvPr id="10" name="TextBox 9"/>
          <p:cNvSpPr txBox="1"/>
          <p:nvPr/>
        </p:nvSpPr>
        <p:spPr>
          <a:xfrm>
            <a:off x="685800" y="2697480"/>
            <a:ext cx="1737360" cy="77724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GC=F daily OHLCV via yfinance</a:t>
            </a:r>
          </a:p>
        </p:txBody>
      </p:sp>
      <p:sp>
        <p:nvSpPr>
          <p:cNvPr id="11" name="TextBox 10"/>
          <p:cNvSpPr txBox="1"/>
          <p:nvPr/>
        </p:nvSpPr>
        <p:spPr>
          <a:xfrm>
            <a:off x="548640" y="3611880"/>
            <a:ext cx="1965960" cy="457200"/>
          </a:xfrm>
          <a:prstGeom prst="rect">
            <a:avLst/>
          </a:prstGeom>
          <a:noFill/>
        </p:spPr>
        <p:txBody>
          <a:bodyPr wrap="square" anchor="t" lIns="45720" rIns="45720" tIns="27432" bIns="27432">
            <a:spAutoFit/>
          </a:bodyPr>
          <a:lstStyle/>
          <a:p>
            <a:pPr algn="ctr">
              <a:lnSpc>
                <a:spcPct val="110000"/>
              </a:lnSpc>
              <a:spcAft>
                <a:spcPts val="0"/>
              </a:spcAft>
            </a:pPr>
            <a:r>
              <a:rPr sz="1100" b="0" i="0">
                <a:solidFill>
                  <a:srgbClr val="64748B"/>
                </a:solidFill>
                <a:latin typeface="Consolas"/>
              </a:rPr>
              <a:t>API download</a:t>
            </a:r>
          </a:p>
        </p:txBody>
      </p:sp>
      <p:sp>
        <p:nvSpPr>
          <p:cNvPr id="12" name="Right Arrow 11"/>
          <p:cNvSpPr/>
          <p:nvPr/>
        </p:nvSpPr>
        <p:spPr>
          <a:xfrm>
            <a:off x="2560320" y="2423160"/>
            <a:ext cx="274320" cy="274320"/>
          </a:xfrm>
          <a:prstGeom prst="rightArrow">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80360" y="1600200"/>
            <a:ext cx="1965960" cy="1920240"/>
          </a:xfrm>
          <a:prstGeom prst="roundRect">
            <a:avLst>
              <a:gd name="adj" fmla="val 6000"/>
            </a:avLst>
          </a:prstGeom>
          <a:solidFill>
            <a:srgbClr val="0B1722"/>
          </a:solidFill>
          <a:ln w="1905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7520" y="1737360"/>
            <a:ext cx="1737360" cy="274320"/>
          </a:xfrm>
          <a:prstGeom prst="rect">
            <a:avLst/>
          </a:prstGeom>
          <a:noFill/>
        </p:spPr>
        <p:txBody>
          <a:bodyPr wrap="square" anchor="t" lIns="45720" rIns="45720" tIns="27432" bIns="27432">
            <a:spAutoFit/>
          </a:bodyPr>
          <a:lstStyle/>
          <a:p>
            <a:pPr algn="l">
              <a:lnSpc>
                <a:spcPct val="110000"/>
              </a:lnSpc>
              <a:spcAft>
                <a:spcPts val="0"/>
              </a:spcAft>
            </a:pPr>
            <a:r>
              <a:rPr sz="1100" b="1" i="0">
                <a:solidFill>
                  <a:srgbClr val="14B8A6"/>
                </a:solidFill>
                <a:latin typeface="Calibri"/>
              </a:rPr>
              <a:t>MEMBER A</a:t>
            </a:r>
          </a:p>
        </p:txBody>
      </p:sp>
      <p:sp>
        <p:nvSpPr>
          <p:cNvPr id="15" name="TextBox 14"/>
          <p:cNvSpPr txBox="1"/>
          <p:nvPr/>
        </p:nvSpPr>
        <p:spPr>
          <a:xfrm>
            <a:off x="3017520" y="2029968"/>
            <a:ext cx="1737360" cy="685800"/>
          </a:xfrm>
          <a:prstGeom prst="rect">
            <a:avLst/>
          </a:prstGeom>
          <a:noFill/>
        </p:spPr>
        <p:txBody>
          <a:bodyPr wrap="square" anchor="t" lIns="45720" rIns="45720" tIns="27432" bIns="27432">
            <a:spAutoFit/>
          </a:bodyPr>
          <a:lstStyle/>
          <a:p>
            <a:pPr algn="l">
              <a:lnSpc>
                <a:spcPct val="95000"/>
              </a:lnSpc>
              <a:spcAft>
                <a:spcPts val="0"/>
              </a:spcAft>
            </a:pPr>
            <a:r>
              <a:rPr sz="1800" b="1" i="0">
                <a:solidFill>
                  <a:srgbClr val="F1F5F9"/>
                </a:solidFill>
                <a:latin typeface="Calibri"/>
              </a:rPr>
              <a:t>Data Pipeline</a:t>
            </a:r>
          </a:p>
        </p:txBody>
      </p:sp>
      <p:sp>
        <p:nvSpPr>
          <p:cNvPr id="16" name="TextBox 15"/>
          <p:cNvSpPr txBox="1"/>
          <p:nvPr/>
        </p:nvSpPr>
        <p:spPr>
          <a:xfrm>
            <a:off x="3017520" y="2697480"/>
            <a:ext cx="1737360" cy="77724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Clean, validate, compute returns</a:t>
            </a:r>
          </a:p>
        </p:txBody>
      </p:sp>
      <p:sp>
        <p:nvSpPr>
          <p:cNvPr id="17" name="TextBox 16"/>
          <p:cNvSpPr txBox="1"/>
          <p:nvPr/>
        </p:nvSpPr>
        <p:spPr>
          <a:xfrm>
            <a:off x="2880360" y="3611880"/>
            <a:ext cx="1965960" cy="457200"/>
          </a:xfrm>
          <a:prstGeom prst="rect">
            <a:avLst/>
          </a:prstGeom>
          <a:noFill/>
        </p:spPr>
        <p:txBody>
          <a:bodyPr wrap="square" anchor="t" lIns="45720" rIns="45720" tIns="27432" bIns="27432">
            <a:spAutoFit/>
          </a:bodyPr>
          <a:lstStyle/>
          <a:p>
            <a:pPr algn="ctr">
              <a:lnSpc>
                <a:spcPct val="110000"/>
              </a:lnSpc>
              <a:spcAft>
                <a:spcPts val="0"/>
              </a:spcAft>
            </a:pPr>
            <a:r>
              <a:rPr sz="1100" b="0" i="0">
                <a:solidFill>
                  <a:srgbClr val="14B8A6"/>
                </a:solidFill>
                <a:latin typeface="Consolas"/>
              </a:rPr>
              <a:t>gold_futures_processed.csv</a:t>
            </a:r>
          </a:p>
        </p:txBody>
      </p:sp>
      <p:sp>
        <p:nvSpPr>
          <p:cNvPr id="18" name="Right Arrow 17"/>
          <p:cNvSpPr/>
          <p:nvPr/>
        </p:nvSpPr>
        <p:spPr>
          <a:xfrm>
            <a:off x="4892040" y="2423160"/>
            <a:ext cx="274320" cy="274320"/>
          </a:xfrm>
          <a:prstGeom prst="rightArrow">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12079" y="1600200"/>
            <a:ext cx="1965960" cy="1920240"/>
          </a:xfrm>
          <a:prstGeom prst="roundRect">
            <a:avLst>
              <a:gd name="adj" fmla="val 6000"/>
            </a:avLst>
          </a:prstGeom>
          <a:solidFill>
            <a:srgbClr val="0B1722"/>
          </a:solidFill>
          <a:ln w="19050">
            <a:solidFill>
              <a:srgbClr val="F5B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49240" y="1737360"/>
            <a:ext cx="1737360" cy="274320"/>
          </a:xfrm>
          <a:prstGeom prst="rect">
            <a:avLst/>
          </a:prstGeom>
          <a:noFill/>
        </p:spPr>
        <p:txBody>
          <a:bodyPr wrap="square" anchor="t" lIns="45720" rIns="45720" tIns="27432" bIns="27432">
            <a:spAutoFit/>
          </a:bodyPr>
          <a:lstStyle/>
          <a:p>
            <a:pPr algn="l">
              <a:lnSpc>
                <a:spcPct val="110000"/>
              </a:lnSpc>
              <a:spcAft>
                <a:spcPts val="0"/>
              </a:spcAft>
            </a:pPr>
            <a:r>
              <a:rPr sz="1100" b="1" i="0">
                <a:solidFill>
                  <a:srgbClr val="F5BD4F"/>
                </a:solidFill>
                <a:latin typeface="Calibri"/>
              </a:rPr>
              <a:t>MEMBER B</a:t>
            </a:r>
          </a:p>
        </p:txBody>
      </p:sp>
      <p:sp>
        <p:nvSpPr>
          <p:cNvPr id="21" name="TextBox 20"/>
          <p:cNvSpPr txBox="1"/>
          <p:nvPr/>
        </p:nvSpPr>
        <p:spPr>
          <a:xfrm>
            <a:off x="5349240" y="2029968"/>
            <a:ext cx="1737360" cy="685800"/>
          </a:xfrm>
          <a:prstGeom prst="rect">
            <a:avLst/>
          </a:prstGeom>
          <a:noFill/>
        </p:spPr>
        <p:txBody>
          <a:bodyPr wrap="square" anchor="t" lIns="45720" rIns="45720" tIns="27432" bIns="27432">
            <a:spAutoFit/>
          </a:bodyPr>
          <a:lstStyle/>
          <a:p>
            <a:pPr algn="l">
              <a:lnSpc>
                <a:spcPct val="95000"/>
              </a:lnSpc>
              <a:spcAft>
                <a:spcPts val="0"/>
              </a:spcAft>
            </a:pPr>
            <a:r>
              <a:rPr sz="1800" b="1" i="0">
                <a:solidFill>
                  <a:srgbClr val="F1F5F9"/>
                </a:solidFill>
                <a:latin typeface="Calibri"/>
              </a:rPr>
              <a:t>Anomaly Detection</a:t>
            </a:r>
          </a:p>
        </p:txBody>
      </p:sp>
      <p:sp>
        <p:nvSpPr>
          <p:cNvPr id="22" name="TextBox 21"/>
          <p:cNvSpPr txBox="1"/>
          <p:nvPr/>
        </p:nvSpPr>
        <p:spPr>
          <a:xfrm>
            <a:off x="5349240" y="2697480"/>
            <a:ext cx="1737360" cy="77724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Rolling Z-scores, anomaly score</a:t>
            </a:r>
          </a:p>
        </p:txBody>
      </p:sp>
      <p:sp>
        <p:nvSpPr>
          <p:cNvPr id="23" name="TextBox 22"/>
          <p:cNvSpPr txBox="1"/>
          <p:nvPr/>
        </p:nvSpPr>
        <p:spPr>
          <a:xfrm>
            <a:off x="5212079" y="3611880"/>
            <a:ext cx="1965960" cy="457200"/>
          </a:xfrm>
          <a:prstGeom prst="rect">
            <a:avLst/>
          </a:prstGeom>
          <a:noFill/>
        </p:spPr>
        <p:txBody>
          <a:bodyPr wrap="square" anchor="t" lIns="45720" rIns="45720" tIns="27432" bIns="27432">
            <a:spAutoFit/>
          </a:bodyPr>
          <a:lstStyle/>
          <a:p>
            <a:pPr algn="ctr">
              <a:lnSpc>
                <a:spcPct val="110000"/>
              </a:lnSpc>
              <a:spcAft>
                <a:spcPts val="0"/>
              </a:spcAft>
            </a:pPr>
            <a:r>
              <a:rPr sz="1100" b="0" i="0">
                <a:solidFill>
                  <a:srgbClr val="F5BD4F"/>
                </a:solidFill>
                <a:latin typeface="Consolas"/>
              </a:rPr>
              <a:t>gold_futures_analysis.csv</a:t>
            </a:r>
          </a:p>
        </p:txBody>
      </p:sp>
      <p:sp>
        <p:nvSpPr>
          <p:cNvPr id="24" name="Right Arrow 23"/>
          <p:cNvSpPr/>
          <p:nvPr/>
        </p:nvSpPr>
        <p:spPr>
          <a:xfrm>
            <a:off x="7223759" y="2423160"/>
            <a:ext cx="274320" cy="274320"/>
          </a:xfrm>
          <a:prstGeom prst="rightArrow">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43800" y="1600200"/>
            <a:ext cx="1965960" cy="1920240"/>
          </a:xfrm>
          <a:prstGeom prst="roundRect">
            <a:avLst>
              <a:gd name="adj" fmla="val 6000"/>
            </a:avLst>
          </a:prstGeom>
          <a:solidFill>
            <a:srgbClr val="0B1722"/>
          </a:solidFill>
          <a:ln w="19050">
            <a:solidFill>
              <a:srgbClr val="F5B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0" y="1737360"/>
            <a:ext cx="1737360" cy="274320"/>
          </a:xfrm>
          <a:prstGeom prst="rect">
            <a:avLst/>
          </a:prstGeom>
          <a:noFill/>
        </p:spPr>
        <p:txBody>
          <a:bodyPr wrap="square" anchor="t" lIns="45720" rIns="45720" tIns="27432" bIns="27432">
            <a:spAutoFit/>
          </a:bodyPr>
          <a:lstStyle/>
          <a:p>
            <a:pPr algn="l">
              <a:lnSpc>
                <a:spcPct val="110000"/>
              </a:lnSpc>
              <a:spcAft>
                <a:spcPts val="0"/>
              </a:spcAft>
            </a:pPr>
            <a:r>
              <a:rPr sz="1100" b="1" i="0">
                <a:solidFill>
                  <a:srgbClr val="F5BD4F"/>
                </a:solidFill>
                <a:latin typeface="Calibri"/>
              </a:rPr>
              <a:t>MEMBER B</a:t>
            </a:r>
          </a:p>
        </p:txBody>
      </p:sp>
      <p:sp>
        <p:nvSpPr>
          <p:cNvPr id="27" name="TextBox 26"/>
          <p:cNvSpPr txBox="1"/>
          <p:nvPr/>
        </p:nvSpPr>
        <p:spPr>
          <a:xfrm>
            <a:off x="7680960" y="2029968"/>
            <a:ext cx="1737360" cy="685800"/>
          </a:xfrm>
          <a:prstGeom prst="rect">
            <a:avLst/>
          </a:prstGeom>
          <a:noFill/>
        </p:spPr>
        <p:txBody>
          <a:bodyPr wrap="square" anchor="t" lIns="45720" rIns="45720" tIns="27432" bIns="27432">
            <a:spAutoFit/>
          </a:bodyPr>
          <a:lstStyle/>
          <a:p>
            <a:pPr algn="l">
              <a:lnSpc>
                <a:spcPct val="95000"/>
              </a:lnSpc>
              <a:spcAft>
                <a:spcPts val="0"/>
              </a:spcAft>
            </a:pPr>
            <a:r>
              <a:rPr sz="1800" b="1" i="0">
                <a:solidFill>
                  <a:srgbClr val="F1F5F9"/>
                </a:solidFill>
                <a:latin typeface="Calibri"/>
              </a:rPr>
              <a:t>Backtest</a:t>
            </a:r>
          </a:p>
        </p:txBody>
      </p:sp>
      <p:sp>
        <p:nvSpPr>
          <p:cNvPr id="28" name="TextBox 27"/>
          <p:cNvSpPr txBox="1"/>
          <p:nvPr/>
        </p:nvSpPr>
        <p:spPr>
          <a:xfrm>
            <a:off x="7680960" y="2697480"/>
            <a:ext cx="1737360" cy="77724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Spike → forward return vs. baseline</a:t>
            </a:r>
          </a:p>
        </p:txBody>
      </p:sp>
      <p:sp>
        <p:nvSpPr>
          <p:cNvPr id="29" name="TextBox 28"/>
          <p:cNvSpPr txBox="1"/>
          <p:nvPr/>
        </p:nvSpPr>
        <p:spPr>
          <a:xfrm>
            <a:off x="7543800" y="3611880"/>
            <a:ext cx="1965960" cy="457200"/>
          </a:xfrm>
          <a:prstGeom prst="rect">
            <a:avLst/>
          </a:prstGeom>
          <a:noFill/>
        </p:spPr>
        <p:txBody>
          <a:bodyPr wrap="square" anchor="t" lIns="45720" rIns="45720" tIns="27432" bIns="27432">
            <a:spAutoFit/>
          </a:bodyPr>
          <a:lstStyle/>
          <a:p>
            <a:pPr algn="ctr">
              <a:lnSpc>
                <a:spcPct val="110000"/>
              </a:lnSpc>
              <a:spcAft>
                <a:spcPts val="0"/>
              </a:spcAft>
            </a:pPr>
            <a:r>
              <a:rPr sz="1100" b="0" i="0">
                <a:solidFill>
                  <a:srgbClr val="F5BD4F"/>
                </a:solidFill>
                <a:latin typeface="Consolas"/>
              </a:rPr>
              <a:t>gold_futures_backtest.csv</a:t>
            </a:r>
          </a:p>
        </p:txBody>
      </p:sp>
      <p:sp>
        <p:nvSpPr>
          <p:cNvPr id="30" name="Right Arrow 29"/>
          <p:cNvSpPr/>
          <p:nvPr/>
        </p:nvSpPr>
        <p:spPr>
          <a:xfrm>
            <a:off x="9555480" y="2423160"/>
            <a:ext cx="274320" cy="274320"/>
          </a:xfrm>
          <a:prstGeom prst="rightArrow">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75519" y="1600200"/>
            <a:ext cx="1965960" cy="1920240"/>
          </a:xfrm>
          <a:prstGeom prst="roundRect">
            <a:avLst>
              <a:gd name="adj" fmla="val 6000"/>
            </a:avLst>
          </a:prstGeom>
          <a:solidFill>
            <a:srgbClr val="0B1722"/>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12680" y="1737360"/>
            <a:ext cx="1737360" cy="274320"/>
          </a:xfrm>
          <a:prstGeom prst="rect">
            <a:avLst/>
          </a:prstGeom>
          <a:noFill/>
        </p:spPr>
        <p:txBody>
          <a:bodyPr wrap="square" anchor="t" lIns="45720" rIns="45720" tIns="27432" bIns="27432">
            <a:spAutoFit/>
          </a:bodyPr>
          <a:lstStyle/>
          <a:p>
            <a:pPr algn="l">
              <a:lnSpc>
                <a:spcPct val="110000"/>
              </a:lnSpc>
              <a:spcAft>
                <a:spcPts val="0"/>
              </a:spcAft>
            </a:pPr>
            <a:r>
              <a:rPr sz="1100" b="1" i="0">
                <a:solidFill>
                  <a:srgbClr val="38BDF8"/>
                </a:solidFill>
                <a:latin typeface="Calibri"/>
              </a:rPr>
              <a:t>MEMBER C</a:t>
            </a:r>
          </a:p>
        </p:txBody>
      </p:sp>
      <p:sp>
        <p:nvSpPr>
          <p:cNvPr id="33" name="TextBox 32"/>
          <p:cNvSpPr txBox="1"/>
          <p:nvPr/>
        </p:nvSpPr>
        <p:spPr>
          <a:xfrm>
            <a:off x="10012680" y="2029968"/>
            <a:ext cx="1737360" cy="685800"/>
          </a:xfrm>
          <a:prstGeom prst="rect">
            <a:avLst/>
          </a:prstGeom>
          <a:noFill/>
        </p:spPr>
        <p:txBody>
          <a:bodyPr wrap="square" anchor="t" lIns="45720" rIns="45720" tIns="27432" bIns="27432">
            <a:spAutoFit/>
          </a:bodyPr>
          <a:lstStyle/>
          <a:p>
            <a:pPr algn="l">
              <a:lnSpc>
                <a:spcPct val="95000"/>
              </a:lnSpc>
              <a:spcAft>
                <a:spcPts val="0"/>
              </a:spcAft>
            </a:pPr>
            <a:r>
              <a:rPr sz="1800" b="1" i="0">
                <a:solidFill>
                  <a:srgbClr val="F1F5F9"/>
                </a:solidFill>
                <a:latin typeface="Calibri"/>
              </a:rPr>
              <a:t>Dashboard</a:t>
            </a:r>
          </a:p>
        </p:txBody>
      </p:sp>
      <p:sp>
        <p:nvSpPr>
          <p:cNvPr id="34" name="TextBox 33"/>
          <p:cNvSpPr txBox="1"/>
          <p:nvPr/>
        </p:nvSpPr>
        <p:spPr>
          <a:xfrm>
            <a:off x="10012680" y="2697480"/>
            <a:ext cx="1737360" cy="77724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Interactive charts &amp; controls</a:t>
            </a:r>
          </a:p>
        </p:txBody>
      </p:sp>
      <p:sp>
        <p:nvSpPr>
          <p:cNvPr id="35" name="TextBox 34"/>
          <p:cNvSpPr txBox="1"/>
          <p:nvPr/>
        </p:nvSpPr>
        <p:spPr>
          <a:xfrm>
            <a:off x="9875519" y="3611880"/>
            <a:ext cx="1965960" cy="457200"/>
          </a:xfrm>
          <a:prstGeom prst="rect">
            <a:avLst/>
          </a:prstGeom>
          <a:noFill/>
        </p:spPr>
        <p:txBody>
          <a:bodyPr wrap="square" anchor="t" lIns="45720" rIns="45720" tIns="27432" bIns="27432">
            <a:spAutoFit/>
          </a:bodyPr>
          <a:lstStyle/>
          <a:p>
            <a:pPr algn="ctr">
              <a:lnSpc>
                <a:spcPct val="110000"/>
              </a:lnSpc>
              <a:spcAft>
                <a:spcPts val="0"/>
              </a:spcAft>
            </a:pPr>
            <a:r>
              <a:rPr sz="1100" b="0" i="0">
                <a:solidFill>
                  <a:srgbClr val="38BDF8"/>
                </a:solidFill>
                <a:latin typeface="Consolas"/>
              </a:rPr>
              <a:t>streamlit run app.py</a:t>
            </a:r>
          </a:p>
        </p:txBody>
      </p:sp>
      <p:sp>
        <p:nvSpPr>
          <p:cNvPr id="36" name="TextBox 35"/>
          <p:cNvSpPr txBox="1"/>
          <p:nvPr/>
        </p:nvSpPr>
        <p:spPr>
          <a:xfrm>
            <a:off x="548640" y="4206240"/>
            <a:ext cx="11091672" cy="457200"/>
          </a:xfrm>
          <a:prstGeom prst="rect">
            <a:avLst/>
          </a:prstGeom>
          <a:noFill/>
        </p:spPr>
        <p:txBody>
          <a:bodyPr wrap="square" anchor="t" lIns="45720" rIns="45720" tIns="27432" bIns="27432">
            <a:spAutoFit/>
          </a:bodyPr>
          <a:lstStyle/>
          <a:p>
            <a:pPr algn="ctr">
              <a:lnSpc>
                <a:spcPct val="110000"/>
              </a:lnSpc>
              <a:spcAft>
                <a:spcPts val="600"/>
              </a:spcAft>
            </a:pPr>
            <a:r>
              <a:rPr sz="1600" b="0" i="0">
                <a:solidFill>
                  <a:srgbClr val="94A3B8"/>
                </a:solidFill>
                <a:latin typeface="Calibri"/>
              </a:rPr>
              <a:t>Each stage writes a CSV that the next stage reads, so every step can be run and tested on its own.</a:t>
            </a:r>
          </a:p>
        </p:txBody>
      </p:sp>
      <p:sp>
        <p:nvSpPr>
          <p:cNvPr id="37" name="Rounded Rectangle 36"/>
          <p:cNvSpPr/>
          <p:nvPr/>
        </p:nvSpPr>
        <p:spPr>
          <a:xfrm>
            <a:off x="548640" y="4846320"/>
            <a:ext cx="11091672" cy="128016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4974336"/>
            <a:ext cx="1068933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TECH STACK</a:t>
            </a:r>
          </a:p>
        </p:txBody>
      </p:sp>
      <p:sp>
        <p:nvSpPr>
          <p:cNvPr id="39" name="Rounded Rectangle 38"/>
          <p:cNvSpPr/>
          <p:nvPr/>
        </p:nvSpPr>
        <p:spPr>
          <a:xfrm>
            <a:off x="749808" y="5349240"/>
            <a:ext cx="1207008" cy="45720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 y="5349240"/>
            <a:ext cx="1207008" cy="457200"/>
          </a:xfrm>
          <a:prstGeom prst="rect">
            <a:avLst/>
          </a:prstGeom>
          <a:noFill/>
        </p:spPr>
        <p:txBody>
          <a:bodyPr wrap="square" anchor="ctr" lIns="45720" rIns="45720" tIns="27432" bIns="27432">
            <a:spAutoFit/>
          </a:bodyPr>
          <a:lstStyle/>
          <a:p>
            <a:pPr algn="ctr">
              <a:lnSpc>
                <a:spcPct val="110000"/>
              </a:lnSpc>
              <a:spcAft>
                <a:spcPts val="0"/>
              </a:spcAft>
            </a:pPr>
            <a:r>
              <a:rPr sz="1300" b="0" i="0">
                <a:solidFill>
                  <a:srgbClr val="F1F5F9"/>
                </a:solidFill>
                <a:latin typeface="Calibri"/>
              </a:rPr>
              <a:t>Python</a:t>
            </a:r>
          </a:p>
        </p:txBody>
      </p:sp>
      <p:sp>
        <p:nvSpPr>
          <p:cNvPr id="41" name="Rounded Rectangle 40"/>
          <p:cNvSpPr/>
          <p:nvPr/>
        </p:nvSpPr>
        <p:spPr>
          <a:xfrm>
            <a:off x="2093976" y="5349240"/>
            <a:ext cx="1207008" cy="45720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93976" y="5349240"/>
            <a:ext cx="1207008" cy="457200"/>
          </a:xfrm>
          <a:prstGeom prst="rect">
            <a:avLst/>
          </a:prstGeom>
          <a:noFill/>
        </p:spPr>
        <p:txBody>
          <a:bodyPr wrap="square" anchor="ctr" lIns="45720" rIns="45720" tIns="27432" bIns="27432">
            <a:spAutoFit/>
          </a:bodyPr>
          <a:lstStyle/>
          <a:p>
            <a:pPr algn="ctr">
              <a:lnSpc>
                <a:spcPct val="110000"/>
              </a:lnSpc>
              <a:spcAft>
                <a:spcPts val="0"/>
              </a:spcAft>
            </a:pPr>
            <a:r>
              <a:rPr sz="1300" b="0" i="0">
                <a:solidFill>
                  <a:srgbClr val="F1F5F9"/>
                </a:solidFill>
                <a:latin typeface="Calibri"/>
              </a:rPr>
              <a:t>pandas</a:t>
            </a:r>
          </a:p>
        </p:txBody>
      </p:sp>
      <p:sp>
        <p:nvSpPr>
          <p:cNvPr id="43" name="Rounded Rectangle 42"/>
          <p:cNvSpPr/>
          <p:nvPr/>
        </p:nvSpPr>
        <p:spPr>
          <a:xfrm>
            <a:off x="3438144" y="5349240"/>
            <a:ext cx="1207008" cy="45720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38144" y="5349240"/>
            <a:ext cx="1207008" cy="457200"/>
          </a:xfrm>
          <a:prstGeom prst="rect">
            <a:avLst/>
          </a:prstGeom>
          <a:noFill/>
        </p:spPr>
        <p:txBody>
          <a:bodyPr wrap="square" anchor="ctr" lIns="45720" rIns="45720" tIns="27432" bIns="27432">
            <a:spAutoFit/>
          </a:bodyPr>
          <a:lstStyle/>
          <a:p>
            <a:pPr algn="ctr">
              <a:lnSpc>
                <a:spcPct val="110000"/>
              </a:lnSpc>
              <a:spcAft>
                <a:spcPts val="0"/>
              </a:spcAft>
            </a:pPr>
            <a:r>
              <a:rPr sz="1300" b="0" i="0">
                <a:solidFill>
                  <a:srgbClr val="F1F5F9"/>
                </a:solidFill>
                <a:latin typeface="Calibri"/>
              </a:rPr>
              <a:t>NumPy</a:t>
            </a:r>
          </a:p>
        </p:txBody>
      </p:sp>
      <p:sp>
        <p:nvSpPr>
          <p:cNvPr id="45" name="Rounded Rectangle 44"/>
          <p:cNvSpPr/>
          <p:nvPr/>
        </p:nvSpPr>
        <p:spPr>
          <a:xfrm>
            <a:off x="4782312" y="5349240"/>
            <a:ext cx="1207008" cy="45720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82312" y="5349240"/>
            <a:ext cx="1207008" cy="457200"/>
          </a:xfrm>
          <a:prstGeom prst="rect">
            <a:avLst/>
          </a:prstGeom>
          <a:noFill/>
        </p:spPr>
        <p:txBody>
          <a:bodyPr wrap="square" anchor="ctr" lIns="45720" rIns="45720" tIns="27432" bIns="27432">
            <a:spAutoFit/>
          </a:bodyPr>
          <a:lstStyle/>
          <a:p>
            <a:pPr algn="ctr">
              <a:lnSpc>
                <a:spcPct val="110000"/>
              </a:lnSpc>
              <a:spcAft>
                <a:spcPts val="0"/>
              </a:spcAft>
            </a:pPr>
            <a:r>
              <a:rPr sz="1300" b="0" i="0">
                <a:solidFill>
                  <a:srgbClr val="F1F5F9"/>
                </a:solidFill>
                <a:latin typeface="Calibri"/>
              </a:rPr>
              <a:t>yfinance</a:t>
            </a:r>
          </a:p>
        </p:txBody>
      </p:sp>
      <p:sp>
        <p:nvSpPr>
          <p:cNvPr id="47" name="Rounded Rectangle 46"/>
          <p:cNvSpPr/>
          <p:nvPr/>
        </p:nvSpPr>
        <p:spPr>
          <a:xfrm>
            <a:off x="6126480" y="5349240"/>
            <a:ext cx="1207008" cy="45720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26480" y="5349240"/>
            <a:ext cx="1207008" cy="457200"/>
          </a:xfrm>
          <a:prstGeom prst="rect">
            <a:avLst/>
          </a:prstGeom>
          <a:noFill/>
        </p:spPr>
        <p:txBody>
          <a:bodyPr wrap="square" anchor="ctr" lIns="45720" rIns="45720" tIns="27432" bIns="27432">
            <a:spAutoFit/>
          </a:bodyPr>
          <a:lstStyle/>
          <a:p>
            <a:pPr algn="ctr">
              <a:lnSpc>
                <a:spcPct val="110000"/>
              </a:lnSpc>
              <a:spcAft>
                <a:spcPts val="0"/>
              </a:spcAft>
            </a:pPr>
            <a:r>
              <a:rPr sz="1300" b="0" i="0">
                <a:solidFill>
                  <a:srgbClr val="F1F5F9"/>
                </a:solidFill>
                <a:latin typeface="Calibri"/>
              </a:rPr>
              <a:t>Streamlit</a:t>
            </a:r>
          </a:p>
        </p:txBody>
      </p:sp>
      <p:sp>
        <p:nvSpPr>
          <p:cNvPr id="49" name="Rounded Rectangle 48"/>
          <p:cNvSpPr/>
          <p:nvPr/>
        </p:nvSpPr>
        <p:spPr>
          <a:xfrm>
            <a:off x="7470648" y="5349240"/>
            <a:ext cx="1207008" cy="45720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70648" y="5349240"/>
            <a:ext cx="1207008" cy="457200"/>
          </a:xfrm>
          <a:prstGeom prst="rect">
            <a:avLst/>
          </a:prstGeom>
          <a:noFill/>
        </p:spPr>
        <p:txBody>
          <a:bodyPr wrap="square" anchor="ctr" lIns="45720" rIns="45720" tIns="27432" bIns="27432">
            <a:spAutoFit/>
          </a:bodyPr>
          <a:lstStyle/>
          <a:p>
            <a:pPr algn="ctr">
              <a:lnSpc>
                <a:spcPct val="110000"/>
              </a:lnSpc>
              <a:spcAft>
                <a:spcPts val="0"/>
              </a:spcAft>
            </a:pPr>
            <a:r>
              <a:rPr sz="1300" b="0" i="0">
                <a:solidFill>
                  <a:srgbClr val="F1F5F9"/>
                </a:solidFill>
                <a:latin typeface="Calibri"/>
              </a:rPr>
              <a:t>Plotly</a:t>
            </a:r>
          </a:p>
        </p:txBody>
      </p:sp>
      <p:sp>
        <p:nvSpPr>
          <p:cNvPr id="51" name="Rounded Rectangle 50"/>
          <p:cNvSpPr/>
          <p:nvPr/>
        </p:nvSpPr>
        <p:spPr>
          <a:xfrm>
            <a:off x="8814816" y="5349240"/>
            <a:ext cx="1207008" cy="45720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814816" y="5349240"/>
            <a:ext cx="1207008" cy="457200"/>
          </a:xfrm>
          <a:prstGeom prst="rect">
            <a:avLst/>
          </a:prstGeom>
          <a:noFill/>
        </p:spPr>
        <p:txBody>
          <a:bodyPr wrap="square" anchor="ctr" lIns="45720" rIns="45720" tIns="27432" bIns="27432">
            <a:spAutoFit/>
          </a:bodyPr>
          <a:lstStyle/>
          <a:p>
            <a:pPr algn="ctr">
              <a:lnSpc>
                <a:spcPct val="110000"/>
              </a:lnSpc>
              <a:spcAft>
                <a:spcPts val="0"/>
              </a:spcAft>
            </a:pPr>
            <a:r>
              <a:rPr sz="1300" b="0" i="0">
                <a:solidFill>
                  <a:srgbClr val="F1F5F9"/>
                </a:solidFill>
                <a:latin typeface="Calibri"/>
              </a:rPr>
              <a:t>Matplotlib</a:t>
            </a:r>
          </a:p>
        </p:txBody>
      </p:sp>
      <p:sp>
        <p:nvSpPr>
          <p:cNvPr id="53" name="Rounded Rectangle 52"/>
          <p:cNvSpPr/>
          <p:nvPr/>
        </p:nvSpPr>
        <p:spPr>
          <a:xfrm>
            <a:off x="10158984" y="5349240"/>
            <a:ext cx="1207008" cy="45720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158984" y="5349240"/>
            <a:ext cx="1207008" cy="457200"/>
          </a:xfrm>
          <a:prstGeom prst="rect">
            <a:avLst/>
          </a:prstGeom>
          <a:noFill/>
        </p:spPr>
        <p:txBody>
          <a:bodyPr wrap="square" anchor="ctr" lIns="45720" rIns="45720" tIns="27432" bIns="27432">
            <a:spAutoFit/>
          </a:bodyPr>
          <a:lstStyle/>
          <a:p>
            <a:pPr algn="ctr">
              <a:lnSpc>
                <a:spcPct val="110000"/>
              </a:lnSpc>
              <a:spcAft>
                <a:spcPts val="0"/>
              </a:spcAft>
            </a:pPr>
            <a:r>
              <a:rPr sz="1300" b="0" i="0">
                <a:solidFill>
                  <a:srgbClr val="F1F5F9"/>
                </a:solidFill>
                <a:latin typeface="Calibri"/>
              </a:rPr>
              <a:t>pytest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Data Collection &amp; Preprocessing</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MEMBER A</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6</a:t>
            </a:r>
          </a:p>
        </p:txBody>
      </p:sp>
      <p:sp>
        <p:nvSpPr>
          <p:cNvPr id="7" name="Rounded Rectangle 6"/>
          <p:cNvSpPr/>
          <p:nvPr/>
        </p:nvSpPr>
        <p:spPr>
          <a:xfrm>
            <a:off x="548640" y="1463040"/>
            <a:ext cx="6537960" cy="7772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1618488"/>
            <a:ext cx="475488" cy="475488"/>
          </a:xfrm>
          <a:prstGeom prst="roundRect">
            <a:avLst>
              <a:gd name="adj" fmla="val 30000"/>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618488"/>
            <a:ext cx="475488" cy="475488"/>
          </a:xfrm>
          <a:prstGeom prst="rect">
            <a:avLst/>
          </a:prstGeom>
          <a:noFill/>
        </p:spPr>
        <p:txBody>
          <a:bodyPr wrap="square" anchor="ctr" lIns="45720" rIns="45720" tIns="27432" bIns="27432">
            <a:spAutoFit/>
          </a:bodyPr>
          <a:lstStyle/>
          <a:p>
            <a:pPr algn="ctr">
              <a:lnSpc>
                <a:spcPct val="110000"/>
              </a:lnSpc>
              <a:spcAft>
                <a:spcPts val="0"/>
              </a:spcAft>
            </a:pPr>
            <a:r>
              <a:rPr sz="1600" b="1" i="0">
                <a:solidFill>
                  <a:srgbClr val="071019"/>
                </a:solidFill>
                <a:latin typeface="Calibri"/>
              </a:rPr>
              <a:t>1</a:t>
            </a:r>
          </a:p>
        </p:txBody>
      </p:sp>
      <p:sp>
        <p:nvSpPr>
          <p:cNvPr id="10" name="TextBox 9"/>
          <p:cNvSpPr txBox="1"/>
          <p:nvPr/>
        </p:nvSpPr>
        <p:spPr>
          <a:xfrm>
            <a:off x="1371600" y="1517904"/>
            <a:ext cx="5577840" cy="347472"/>
          </a:xfrm>
          <a:prstGeom prst="rect">
            <a:avLst/>
          </a:prstGeom>
          <a:noFill/>
        </p:spPr>
        <p:txBody>
          <a:bodyPr wrap="square" anchor="t" lIns="45720" rIns="45720" tIns="27432" bIns="27432">
            <a:spAutoFit/>
          </a:bodyPr>
          <a:lstStyle/>
          <a:p>
            <a:pPr algn="l">
              <a:lnSpc>
                <a:spcPct val="110000"/>
              </a:lnSpc>
              <a:spcAft>
                <a:spcPts val="0"/>
              </a:spcAft>
            </a:pPr>
            <a:r>
              <a:rPr sz="1700" b="1" i="0">
                <a:solidFill>
                  <a:srgbClr val="F1F5F9"/>
                </a:solidFill>
                <a:latin typeface="Calibri"/>
              </a:rPr>
              <a:t>Download</a:t>
            </a:r>
          </a:p>
        </p:txBody>
      </p:sp>
      <p:sp>
        <p:nvSpPr>
          <p:cNvPr id="11" name="TextBox 10"/>
          <p:cNvSpPr txBox="1"/>
          <p:nvPr/>
        </p:nvSpPr>
        <p:spPr>
          <a:xfrm>
            <a:off x="1371600" y="1856232"/>
            <a:ext cx="5577840" cy="347472"/>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yfinance, ticker GC=F, full history</a:t>
            </a:r>
          </a:p>
        </p:txBody>
      </p:sp>
      <p:sp>
        <p:nvSpPr>
          <p:cNvPr id="12" name="Rounded Rectangle 11"/>
          <p:cNvSpPr/>
          <p:nvPr/>
        </p:nvSpPr>
        <p:spPr>
          <a:xfrm>
            <a:off x="548640" y="2395728"/>
            <a:ext cx="6537960" cy="7772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3232" y="2551176"/>
            <a:ext cx="475488" cy="475488"/>
          </a:xfrm>
          <a:prstGeom prst="roundRect">
            <a:avLst>
              <a:gd name="adj" fmla="val 30000"/>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551176"/>
            <a:ext cx="475488" cy="475488"/>
          </a:xfrm>
          <a:prstGeom prst="rect">
            <a:avLst/>
          </a:prstGeom>
          <a:noFill/>
        </p:spPr>
        <p:txBody>
          <a:bodyPr wrap="square" anchor="ctr" lIns="45720" rIns="45720" tIns="27432" bIns="27432">
            <a:spAutoFit/>
          </a:bodyPr>
          <a:lstStyle/>
          <a:p>
            <a:pPr algn="ctr">
              <a:lnSpc>
                <a:spcPct val="110000"/>
              </a:lnSpc>
              <a:spcAft>
                <a:spcPts val="0"/>
              </a:spcAft>
            </a:pPr>
            <a:r>
              <a:rPr sz="1600" b="1" i="0">
                <a:solidFill>
                  <a:srgbClr val="071019"/>
                </a:solidFill>
                <a:latin typeface="Calibri"/>
              </a:rPr>
              <a:t>2</a:t>
            </a:r>
          </a:p>
        </p:txBody>
      </p:sp>
      <p:sp>
        <p:nvSpPr>
          <p:cNvPr id="15" name="TextBox 14"/>
          <p:cNvSpPr txBox="1"/>
          <p:nvPr/>
        </p:nvSpPr>
        <p:spPr>
          <a:xfrm>
            <a:off x="1371600" y="2450592"/>
            <a:ext cx="5577840" cy="347472"/>
          </a:xfrm>
          <a:prstGeom prst="rect">
            <a:avLst/>
          </a:prstGeom>
          <a:noFill/>
        </p:spPr>
        <p:txBody>
          <a:bodyPr wrap="square" anchor="t" lIns="45720" rIns="45720" tIns="27432" bIns="27432">
            <a:spAutoFit/>
          </a:bodyPr>
          <a:lstStyle/>
          <a:p>
            <a:pPr algn="l">
              <a:lnSpc>
                <a:spcPct val="110000"/>
              </a:lnSpc>
              <a:spcAft>
                <a:spcPts val="0"/>
              </a:spcAft>
            </a:pPr>
            <a:r>
              <a:rPr sz="1700" b="1" i="0">
                <a:solidFill>
                  <a:srgbClr val="F1F5F9"/>
                </a:solidFill>
                <a:latin typeface="Calibri"/>
              </a:rPr>
              <a:t>Normalise</a:t>
            </a:r>
          </a:p>
        </p:txBody>
      </p:sp>
      <p:sp>
        <p:nvSpPr>
          <p:cNvPr id="16" name="TextBox 15"/>
          <p:cNvSpPr txBox="1"/>
          <p:nvPr/>
        </p:nvSpPr>
        <p:spPr>
          <a:xfrm>
            <a:off x="1371600" y="2788920"/>
            <a:ext cx="5577840" cy="347472"/>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Flatten columns, standard dates, sort, remove duplicates</a:t>
            </a:r>
          </a:p>
        </p:txBody>
      </p:sp>
      <p:sp>
        <p:nvSpPr>
          <p:cNvPr id="17" name="Rounded Rectangle 16"/>
          <p:cNvSpPr/>
          <p:nvPr/>
        </p:nvSpPr>
        <p:spPr>
          <a:xfrm>
            <a:off x="548640" y="3328416"/>
            <a:ext cx="6537960" cy="7772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 y="3483864"/>
            <a:ext cx="475488" cy="475488"/>
          </a:xfrm>
          <a:prstGeom prst="roundRect">
            <a:avLst>
              <a:gd name="adj" fmla="val 30000"/>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483864"/>
            <a:ext cx="475488" cy="475488"/>
          </a:xfrm>
          <a:prstGeom prst="rect">
            <a:avLst/>
          </a:prstGeom>
          <a:noFill/>
        </p:spPr>
        <p:txBody>
          <a:bodyPr wrap="square" anchor="ctr" lIns="45720" rIns="45720" tIns="27432" bIns="27432">
            <a:spAutoFit/>
          </a:bodyPr>
          <a:lstStyle/>
          <a:p>
            <a:pPr algn="ctr">
              <a:lnSpc>
                <a:spcPct val="110000"/>
              </a:lnSpc>
              <a:spcAft>
                <a:spcPts val="0"/>
              </a:spcAft>
            </a:pPr>
            <a:r>
              <a:rPr sz="1600" b="1" i="0">
                <a:solidFill>
                  <a:srgbClr val="071019"/>
                </a:solidFill>
                <a:latin typeface="Calibri"/>
              </a:rPr>
              <a:t>3</a:t>
            </a:r>
          </a:p>
        </p:txBody>
      </p:sp>
      <p:sp>
        <p:nvSpPr>
          <p:cNvPr id="20" name="TextBox 19"/>
          <p:cNvSpPr txBox="1"/>
          <p:nvPr/>
        </p:nvSpPr>
        <p:spPr>
          <a:xfrm>
            <a:off x="1371600" y="3383280"/>
            <a:ext cx="5577840" cy="347472"/>
          </a:xfrm>
          <a:prstGeom prst="rect">
            <a:avLst/>
          </a:prstGeom>
          <a:noFill/>
        </p:spPr>
        <p:txBody>
          <a:bodyPr wrap="square" anchor="t" lIns="45720" rIns="45720" tIns="27432" bIns="27432">
            <a:spAutoFit/>
          </a:bodyPr>
          <a:lstStyle/>
          <a:p>
            <a:pPr algn="l">
              <a:lnSpc>
                <a:spcPct val="110000"/>
              </a:lnSpc>
              <a:spcAft>
                <a:spcPts val="0"/>
              </a:spcAft>
            </a:pPr>
            <a:r>
              <a:rPr sz="1700" b="1" i="0">
                <a:solidFill>
                  <a:srgbClr val="F1F5F9"/>
                </a:solidFill>
                <a:latin typeface="Calibri"/>
              </a:rPr>
              <a:t>Validate</a:t>
            </a:r>
          </a:p>
        </p:txBody>
      </p:sp>
      <p:sp>
        <p:nvSpPr>
          <p:cNvPr id="21" name="TextBox 20"/>
          <p:cNvSpPr txBox="1"/>
          <p:nvPr/>
        </p:nvSpPr>
        <p:spPr>
          <a:xfrm>
            <a:off x="1371600" y="3721608"/>
            <a:ext cx="5577840" cy="347472"/>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Prices &gt; 0, High ≥ Low, Open/Close inside High–Low, Volume ≥ 0</a:t>
            </a:r>
          </a:p>
        </p:txBody>
      </p:sp>
      <p:sp>
        <p:nvSpPr>
          <p:cNvPr id="22" name="Rounded Rectangle 21"/>
          <p:cNvSpPr/>
          <p:nvPr/>
        </p:nvSpPr>
        <p:spPr>
          <a:xfrm>
            <a:off x="548640" y="4261104"/>
            <a:ext cx="6537960" cy="7772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3232" y="4416552"/>
            <a:ext cx="475488" cy="475488"/>
          </a:xfrm>
          <a:prstGeom prst="roundRect">
            <a:avLst>
              <a:gd name="adj" fmla="val 30000"/>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416552"/>
            <a:ext cx="475488" cy="475488"/>
          </a:xfrm>
          <a:prstGeom prst="rect">
            <a:avLst/>
          </a:prstGeom>
          <a:noFill/>
        </p:spPr>
        <p:txBody>
          <a:bodyPr wrap="square" anchor="ctr" lIns="45720" rIns="45720" tIns="27432" bIns="27432">
            <a:spAutoFit/>
          </a:bodyPr>
          <a:lstStyle/>
          <a:p>
            <a:pPr algn="ctr">
              <a:lnSpc>
                <a:spcPct val="110000"/>
              </a:lnSpc>
              <a:spcAft>
                <a:spcPts val="0"/>
              </a:spcAft>
            </a:pPr>
            <a:r>
              <a:rPr sz="1600" b="1" i="0">
                <a:solidFill>
                  <a:srgbClr val="071019"/>
                </a:solidFill>
                <a:latin typeface="Calibri"/>
              </a:rPr>
              <a:t>4</a:t>
            </a:r>
          </a:p>
        </p:txBody>
      </p:sp>
      <p:sp>
        <p:nvSpPr>
          <p:cNvPr id="25" name="TextBox 24"/>
          <p:cNvSpPr txBox="1"/>
          <p:nvPr/>
        </p:nvSpPr>
        <p:spPr>
          <a:xfrm>
            <a:off x="1371600" y="4315968"/>
            <a:ext cx="5577840" cy="347472"/>
          </a:xfrm>
          <a:prstGeom prst="rect">
            <a:avLst/>
          </a:prstGeom>
          <a:noFill/>
        </p:spPr>
        <p:txBody>
          <a:bodyPr wrap="square" anchor="t" lIns="45720" rIns="45720" tIns="27432" bIns="27432">
            <a:spAutoFit/>
          </a:bodyPr>
          <a:lstStyle/>
          <a:p>
            <a:pPr algn="l">
              <a:lnSpc>
                <a:spcPct val="110000"/>
              </a:lnSpc>
              <a:spcAft>
                <a:spcPts val="0"/>
              </a:spcAft>
            </a:pPr>
            <a:r>
              <a:rPr sz="1700" b="1" i="0">
                <a:solidFill>
                  <a:srgbClr val="F1F5F9"/>
                </a:solidFill>
                <a:latin typeface="Calibri"/>
              </a:rPr>
              <a:t>Missing values</a:t>
            </a:r>
          </a:p>
        </p:txBody>
      </p:sp>
      <p:sp>
        <p:nvSpPr>
          <p:cNvPr id="26" name="TextBox 25"/>
          <p:cNvSpPr txBox="1"/>
          <p:nvPr/>
        </p:nvSpPr>
        <p:spPr>
          <a:xfrm>
            <a:off x="1371600" y="4654296"/>
            <a:ext cx="5577840" cy="347472"/>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Drop rows without a Close (no forward-fill); keep missing volume as blank</a:t>
            </a:r>
          </a:p>
        </p:txBody>
      </p:sp>
      <p:sp>
        <p:nvSpPr>
          <p:cNvPr id="27" name="Rounded Rectangle 26"/>
          <p:cNvSpPr/>
          <p:nvPr/>
        </p:nvSpPr>
        <p:spPr>
          <a:xfrm>
            <a:off x="548640" y="5193792"/>
            <a:ext cx="6537960" cy="7772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5349240"/>
            <a:ext cx="475488" cy="475488"/>
          </a:xfrm>
          <a:prstGeom prst="roundRect">
            <a:avLst>
              <a:gd name="adj" fmla="val 30000"/>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5349240"/>
            <a:ext cx="475488" cy="475488"/>
          </a:xfrm>
          <a:prstGeom prst="rect">
            <a:avLst/>
          </a:prstGeom>
          <a:noFill/>
        </p:spPr>
        <p:txBody>
          <a:bodyPr wrap="square" anchor="ctr" lIns="45720" rIns="45720" tIns="27432" bIns="27432">
            <a:spAutoFit/>
          </a:bodyPr>
          <a:lstStyle/>
          <a:p>
            <a:pPr algn="ctr">
              <a:lnSpc>
                <a:spcPct val="110000"/>
              </a:lnSpc>
              <a:spcAft>
                <a:spcPts val="0"/>
              </a:spcAft>
            </a:pPr>
            <a:r>
              <a:rPr sz="1600" b="1" i="0">
                <a:solidFill>
                  <a:srgbClr val="071019"/>
                </a:solidFill>
                <a:latin typeface="Calibri"/>
              </a:rPr>
              <a:t>5</a:t>
            </a:r>
          </a:p>
        </p:txBody>
      </p:sp>
      <p:sp>
        <p:nvSpPr>
          <p:cNvPr id="30" name="TextBox 29"/>
          <p:cNvSpPr txBox="1"/>
          <p:nvPr/>
        </p:nvSpPr>
        <p:spPr>
          <a:xfrm>
            <a:off x="1371600" y="5248655"/>
            <a:ext cx="5577840" cy="347472"/>
          </a:xfrm>
          <a:prstGeom prst="rect">
            <a:avLst/>
          </a:prstGeom>
          <a:noFill/>
        </p:spPr>
        <p:txBody>
          <a:bodyPr wrap="square" anchor="t" lIns="45720" rIns="45720" tIns="27432" bIns="27432">
            <a:spAutoFit/>
          </a:bodyPr>
          <a:lstStyle/>
          <a:p>
            <a:pPr algn="l">
              <a:lnSpc>
                <a:spcPct val="110000"/>
              </a:lnSpc>
              <a:spcAft>
                <a:spcPts val="0"/>
              </a:spcAft>
            </a:pPr>
            <a:r>
              <a:rPr sz="1700" b="1" i="0">
                <a:solidFill>
                  <a:srgbClr val="F1F5F9"/>
                </a:solidFill>
                <a:latin typeface="Calibri"/>
              </a:rPr>
              <a:t>Features</a:t>
            </a:r>
          </a:p>
        </p:txBody>
      </p:sp>
      <p:sp>
        <p:nvSpPr>
          <p:cNvPr id="31" name="TextBox 30"/>
          <p:cNvSpPr txBox="1"/>
          <p:nvPr/>
        </p:nvSpPr>
        <p:spPr>
          <a:xfrm>
            <a:off x="1371600" y="5586983"/>
            <a:ext cx="5577840" cy="347472"/>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Daily return, absolute return, intraday price range</a:t>
            </a:r>
          </a:p>
        </p:txBody>
      </p:sp>
      <p:sp>
        <p:nvSpPr>
          <p:cNvPr id="32" name="Rounded Rectangle 31"/>
          <p:cNvSpPr/>
          <p:nvPr/>
        </p:nvSpPr>
        <p:spPr>
          <a:xfrm>
            <a:off x="7315200" y="1463040"/>
            <a:ext cx="4325112" cy="21488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16368" y="1591056"/>
            <a:ext cx="392277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RESULT</a:t>
            </a:r>
          </a:p>
        </p:txBody>
      </p:sp>
      <p:sp>
        <p:nvSpPr>
          <p:cNvPr id="34" name="TextBox 33"/>
          <p:cNvSpPr txBox="1"/>
          <p:nvPr/>
        </p:nvSpPr>
        <p:spPr>
          <a:xfrm>
            <a:off x="7516368" y="1828800"/>
            <a:ext cx="3931920" cy="640080"/>
          </a:xfrm>
          <a:prstGeom prst="rect">
            <a:avLst/>
          </a:prstGeom>
          <a:noFill/>
        </p:spPr>
        <p:txBody>
          <a:bodyPr wrap="square" anchor="t" lIns="45720" rIns="45720" tIns="27432" bIns="27432">
            <a:spAutoFit/>
          </a:bodyPr>
          <a:lstStyle/>
          <a:p>
            <a:pPr algn="l">
              <a:lnSpc>
                <a:spcPct val="110000"/>
              </a:lnSpc>
              <a:spcAft>
                <a:spcPts val="0"/>
              </a:spcAft>
            </a:pPr>
            <a:r>
              <a:rPr sz="3400" b="1" i="0">
                <a:solidFill>
                  <a:srgbClr val="F5BD4F"/>
                </a:solidFill>
                <a:latin typeface="Calibri"/>
              </a:rPr>
              <a:t>6,563 → 6,122</a:t>
            </a:r>
          </a:p>
        </p:txBody>
      </p:sp>
      <p:sp>
        <p:nvSpPr>
          <p:cNvPr id="35" name="TextBox 34"/>
          <p:cNvSpPr txBox="1"/>
          <p:nvPr/>
        </p:nvSpPr>
        <p:spPr>
          <a:xfrm>
            <a:off x="7516368" y="2514600"/>
            <a:ext cx="3931920" cy="1005840"/>
          </a:xfrm>
          <a:prstGeom prst="rect">
            <a:avLst/>
          </a:prstGeom>
          <a:noFill/>
        </p:spPr>
        <p:txBody>
          <a:bodyPr wrap="square" anchor="t" lIns="45720" rIns="45720" tIns="27432" bIns="27432">
            <a:spAutoFit/>
          </a:bodyPr>
          <a:lstStyle/>
          <a:p>
            <a:pPr algn="l" marL="256032" indent="-256032">
              <a:lnSpc>
                <a:spcPct val="110000"/>
              </a:lnSpc>
              <a:spcAft>
                <a:spcPts val="200"/>
              </a:spcAft>
              <a:buClr>
                <a:srgbClr val="F5BD4F"/>
              </a:buClr>
              <a:buChar char="•"/>
            </a:pPr>
            <a:r>
              <a:rPr sz="1400" b="0" i="0">
                <a:solidFill>
                  <a:srgbClr val="94A3B8"/>
                </a:solidFill>
                <a:latin typeface="Calibri"/>
              </a:rPr>
              <a:t>441 invalid rows removed</a:t>
            </a:r>
          </a:p>
          <a:p>
            <a:pPr algn="l" marL="256032" indent="-256032">
              <a:lnSpc>
                <a:spcPct val="110000"/>
              </a:lnSpc>
              <a:spcAft>
                <a:spcPts val="200"/>
              </a:spcAft>
              <a:buClr>
                <a:srgbClr val="F5BD4F"/>
              </a:buClr>
              <a:buChar char="•"/>
            </a:pPr>
            <a:r>
              <a:rPr sz="1400" b="0" i="0">
                <a:solidFill>
                  <a:srgbClr val="94A3B8"/>
                </a:solidFill>
                <a:latin typeface="Calibri"/>
              </a:rPr>
              <a:t>0 duplicate dates · 0 missing closes</a:t>
            </a:r>
          </a:p>
        </p:txBody>
      </p:sp>
      <p:sp>
        <p:nvSpPr>
          <p:cNvPr id="36" name="Rounded Rectangle 35"/>
          <p:cNvSpPr/>
          <p:nvPr/>
        </p:nvSpPr>
        <p:spPr>
          <a:xfrm>
            <a:off x="7315200" y="3794760"/>
            <a:ext cx="4325112" cy="105156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16368" y="3922776"/>
            <a:ext cx="392277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DAILY RETURN</a:t>
            </a:r>
          </a:p>
        </p:txBody>
      </p:sp>
      <p:sp>
        <p:nvSpPr>
          <p:cNvPr id="38" name="TextBox 37"/>
          <p:cNvSpPr txBox="1"/>
          <p:nvPr/>
        </p:nvSpPr>
        <p:spPr>
          <a:xfrm>
            <a:off x="7516368" y="4160520"/>
            <a:ext cx="3931920" cy="548640"/>
          </a:xfrm>
          <a:prstGeom prst="rect">
            <a:avLst/>
          </a:prstGeom>
          <a:noFill/>
        </p:spPr>
        <p:txBody>
          <a:bodyPr wrap="square" anchor="t" lIns="45720" rIns="45720" tIns="27432" bIns="27432">
            <a:spAutoFit/>
          </a:bodyPr>
          <a:lstStyle/>
          <a:p>
            <a:pPr algn="l">
              <a:lnSpc>
                <a:spcPct val="110000"/>
              </a:lnSpc>
              <a:spcAft>
                <a:spcPts val="0"/>
              </a:spcAft>
            </a:pPr>
            <a:r>
              <a:rPr sz="2200" b="0" i="0">
                <a:solidFill>
                  <a:srgbClr val="F1F5F9"/>
                </a:solidFill>
                <a:latin typeface="Consolas"/>
              </a:rPr>
              <a:t>R</a:t>
            </a:r>
            <a:r>
              <a:rPr sz="2200" b="0" i="0" baseline="-25000">
                <a:solidFill>
                  <a:srgbClr val="F1F5F9"/>
                </a:solidFill>
                <a:latin typeface="Consolas"/>
              </a:rPr>
              <a:t>t</a:t>
            </a:r>
            <a:r>
              <a:rPr sz="2200" b="0" i="0">
                <a:solidFill>
                  <a:srgbClr val="F1F5F9"/>
                </a:solidFill>
                <a:latin typeface="Consolas"/>
              </a:rPr>
              <a:t> = Close</a:t>
            </a:r>
            <a:r>
              <a:rPr sz="2200" b="0" i="0" baseline="-25000">
                <a:solidFill>
                  <a:srgbClr val="F1F5F9"/>
                </a:solidFill>
                <a:latin typeface="Consolas"/>
              </a:rPr>
              <a:t>t</a:t>
            </a:r>
            <a:r>
              <a:rPr sz="2200" b="0" i="0">
                <a:solidFill>
                  <a:srgbClr val="F1F5F9"/>
                </a:solidFill>
                <a:latin typeface="Consolas"/>
              </a:rPr>
              <a:t> / Close</a:t>
            </a:r>
            <a:r>
              <a:rPr sz="2200" b="0" i="0" baseline="-25000">
                <a:solidFill>
                  <a:srgbClr val="F1F5F9"/>
                </a:solidFill>
                <a:latin typeface="Consolas"/>
              </a:rPr>
              <a:t>t−1</a:t>
            </a:r>
            <a:r>
              <a:rPr sz="2200" b="0" i="0">
                <a:solidFill>
                  <a:srgbClr val="F1F5F9"/>
                </a:solidFill>
                <a:latin typeface="Consolas"/>
              </a:rPr>
              <a:t> − 1</a:t>
            </a:r>
          </a:p>
        </p:txBody>
      </p:sp>
      <p:sp>
        <p:nvSpPr>
          <p:cNvPr id="39" name="Rounded Rectangle 38"/>
          <p:cNvSpPr/>
          <p:nvPr/>
        </p:nvSpPr>
        <p:spPr>
          <a:xfrm>
            <a:off x="7315200" y="5029200"/>
            <a:ext cx="4325112" cy="114300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16368" y="5157216"/>
            <a:ext cx="392277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F43F5E"/>
                </a:solidFill>
                <a:latin typeface="Calibri"/>
              </a:rPr>
              <a:t>WHY NO FORWARD-FILL?</a:t>
            </a:r>
          </a:p>
        </p:txBody>
      </p:sp>
      <p:sp>
        <p:nvSpPr>
          <p:cNvPr id="41" name="TextBox 40"/>
          <p:cNvSpPr txBox="1"/>
          <p:nvPr/>
        </p:nvSpPr>
        <p:spPr>
          <a:xfrm>
            <a:off x="7516368" y="5376672"/>
            <a:ext cx="3931920" cy="77724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Copying yesterday's price creates fake 0% days and hides real moves.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Exploratory Analysis: Returns</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EDA</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7</a:t>
            </a:r>
          </a:p>
        </p:txBody>
      </p:sp>
      <p:sp>
        <p:nvSpPr>
          <p:cNvPr id="7" name="Rounded Rectangle 6"/>
          <p:cNvSpPr/>
          <p:nvPr/>
        </p:nvSpPr>
        <p:spPr>
          <a:xfrm>
            <a:off x="548640" y="1417320"/>
            <a:ext cx="539496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499262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DISTRIBUTION OF DAILY RETURNS</a:t>
            </a:r>
          </a:p>
        </p:txBody>
      </p:sp>
      <p:pic>
        <p:nvPicPr>
          <p:cNvPr id="9" name="Picture 8" descr="returns_hist.png"/>
          <p:cNvPicPr>
            <a:picLocks noChangeAspect="1"/>
          </p:cNvPicPr>
          <p:nvPr/>
        </p:nvPicPr>
        <p:blipFill>
          <a:blip r:embed="rId3"/>
          <a:stretch>
            <a:fillRect/>
          </a:stretch>
        </p:blipFill>
        <p:spPr>
          <a:xfrm>
            <a:off x="685800" y="1800040"/>
            <a:ext cx="5120640" cy="3303638"/>
          </a:xfrm>
          <a:prstGeom prst="rect">
            <a:avLst/>
          </a:prstGeom>
        </p:spPr>
      </p:pic>
      <p:sp>
        <p:nvSpPr>
          <p:cNvPr id="10" name="TextBox 9"/>
          <p:cNvSpPr txBox="1"/>
          <p:nvPr/>
        </p:nvSpPr>
        <p:spPr>
          <a:xfrm>
            <a:off x="749808" y="5230368"/>
            <a:ext cx="4983480" cy="868680"/>
          </a:xfrm>
          <a:prstGeom prst="rect">
            <a:avLst/>
          </a:prstGeom>
          <a:noFill/>
        </p:spPr>
        <p:txBody>
          <a:bodyPr wrap="square" anchor="t" lIns="45720" rIns="45720" tIns="27432" bIns="27432">
            <a:spAutoFit/>
          </a:bodyPr>
          <a:lstStyle/>
          <a:p>
            <a:pPr algn="l">
              <a:lnSpc>
                <a:spcPct val="110000"/>
              </a:lnSpc>
              <a:spcAft>
                <a:spcPts val="0"/>
              </a:spcAft>
            </a:pPr>
            <a:r>
              <a:rPr sz="1400" b="1" i="0">
                <a:solidFill>
                  <a:srgbClr val="F5BD4F"/>
                </a:solidFill>
                <a:latin typeface="Calibri"/>
              </a:rPr>
              <a:t>Fat tails: </a:t>
            </a:r>
            <a:r>
              <a:rPr sz="1400" b="0" i="0">
                <a:solidFill>
                  <a:srgbClr val="F1F5F9"/>
                </a:solidFill>
                <a:latin typeface="Calibri"/>
              </a:rPr>
              <a:t>3.6% of days have |Z| ≥ 2.5, vs. 1.2% for a normal curve</a:t>
            </a:r>
          </a:p>
        </p:txBody>
      </p:sp>
      <p:sp>
        <p:nvSpPr>
          <p:cNvPr id="11" name="Rounded Rectangle 10"/>
          <p:cNvSpPr/>
          <p:nvPr/>
        </p:nvSpPr>
        <p:spPr>
          <a:xfrm>
            <a:off x="6245352" y="1417320"/>
            <a:ext cx="539496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545336"/>
            <a:ext cx="499262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30-DAY ROLLING VOLATILITY</a:t>
            </a:r>
          </a:p>
        </p:txBody>
      </p:sp>
      <p:pic>
        <p:nvPicPr>
          <p:cNvPr id="13" name="Picture 12" descr="rolling_volatility.png"/>
          <p:cNvPicPr>
            <a:picLocks noChangeAspect="1"/>
          </p:cNvPicPr>
          <p:nvPr/>
        </p:nvPicPr>
        <p:blipFill>
          <a:blip r:embed="rId4"/>
          <a:stretch>
            <a:fillRect/>
          </a:stretch>
        </p:blipFill>
        <p:spPr>
          <a:xfrm>
            <a:off x="6382512" y="1800040"/>
            <a:ext cx="5120640" cy="3303638"/>
          </a:xfrm>
          <a:prstGeom prst="rect">
            <a:avLst/>
          </a:prstGeom>
        </p:spPr>
      </p:pic>
      <p:sp>
        <p:nvSpPr>
          <p:cNvPr id="14" name="TextBox 13"/>
          <p:cNvSpPr txBox="1"/>
          <p:nvPr/>
        </p:nvSpPr>
        <p:spPr>
          <a:xfrm>
            <a:off x="6446520" y="5230368"/>
            <a:ext cx="4983480" cy="868680"/>
          </a:xfrm>
          <a:prstGeom prst="rect">
            <a:avLst/>
          </a:prstGeom>
          <a:noFill/>
        </p:spPr>
        <p:txBody>
          <a:bodyPr wrap="square" anchor="t" lIns="45720" rIns="45720" tIns="27432" bIns="27432">
            <a:spAutoFit/>
          </a:bodyPr>
          <a:lstStyle/>
          <a:p>
            <a:pPr algn="l">
              <a:lnSpc>
                <a:spcPct val="110000"/>
              </a:lnSpc>
              <a:spcAft>
                <a:spcPts val="0"/>
              </a:spcAft>
            </a:pPr>
            <a:r>
              <a:rPr sz="1400" b="1" i="0">
                <a:solidFill>
                  <a:srgbClr val="F5BD4F"/>
                </a:solidFill>
                <a:latin typeface="Calibri"/>
              </a:rPr>
              <a:t>Volatility clusters: </a:t>
            </a:r>
            <a:r>
              <a:rPr sz="1400" b="0" i="0">
                <a:solidFill>
                  <a:srgbClr val="F1F5F9"/>
                </a:solidFill>
                <a:latin typeface="Calibri"/>
              </a:rPr>
              <a:t>calm and turbulent periods alternate → use a rolling window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Exploratory Analysis: Volume Quality</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EDA</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8</a:t>
            </a:r>
          </a:p>
        </p:txBody>
      </p:sp>
      <p:sp>
        <p:nvSpPr>
          <p:cNvPr id="7" name="Rounded Rectangle 6"/>
          <p:cNvSpPr/>
          <p:nvPr/>
        </p:nvSpPr>
        <p:spPr>
          <a:xfrm>
            <a:off x="548640" y="1417320"/>
            <a:ext cx="676656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636422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MEDIAN DAILY VOLUME BY YEAR (YAHOO FINANCE GC=F)</a:t>
            </a:r>
          </a:p>
        </p:txBody>
      </p:sp>
      <p:pic>
        <p:nvPicPr>
          <p:cNvPr id="9" name="Picture 8" descr="volume_by_year.png"/>
          <p:cNvPicPr>
            <a:picLocks noChangeAspect="1"/>
          </p:cNvPicPr>
          <p:nvPr/>
        </p:nvPicPr>
        <p:blipFill>
          <a:blip r:embed="rId3"/>
          <a:stretch>
            <a:fillRect/>
          </a:stretch>
        </p:blipFill>
        <p:spPr>
          <a:xfrm>
            <a:off x="685800" y="1902460"/>
            <a:ext cx="6492240" cy="3967479"/>
          </a:xfrm>
          <a:prstGeom prst="rect">
            <a:avLst/>
          </a:prstGeom>
        </p:spPr>
      </p:pic>
      <p:sp>
        <p:nvSpPr>
          <p:cNvPr id="10" name="Rounded Rectangle 9"/>
          <p:cNvSpPr/>
          <p:nvPr/>
        </p:nvSpPr>
        <p:spPr>
          <a:xfrm>
            <a:off x="7543800" y="1417320"/>
            <a:ext cx="4096512"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4968" y="1545336"/>
            <a:ext cx="369417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WHAT WE FOUND</a:t>
            </a:r>
          </a:p>
        </p:txBody>
      </p:sp>
      <p:sp>
        <p:nvSpPr>
          <p:cNvPr id="12" name="TextBox 11"/>
          <p:cNvSpPr txBox="1"/>
          <p:nvPr/>
        </p:nvSpPr>
        <p:spPr>
          <a:xfrm>
            <a:off x="7744968" y="1828800"/>
            <a:ext cx="3749039" cy="4206240"/>
          </a:xfrm>
          <a:prstGeom prst="rect">
            <a:avLst/>
          </a:prstGeom>
          <a:noFill/>
        </p:spPr>
        <p:txBody>
          <a:bodyPr wrap="square" anchor="t" lIns="45720" rIns="45720" tIns="27432" bIns="27432">
            <a:spAutoFit/>
          </a:bodyPr>
          <a:lstStyle/>
          <a:p>
            <a:pPr algn="l" marL="256032" indent="-256032">
              <a:lnSpc>
                <a:spcPct val="110000"/>
              </a:lnSpc>
              <a:spcAft>
                <a:spcPts val="1000"/>
              </a:spcAft>
              <a:buClr>
                <a:srgbClr val="F5BD4F"/>
              </a:buClr>
              <a:buChar char="•"/>
            </a:pPr>
            <a:r>
              <a:rPr sz="1500" b="1" i="0">
                <a:solidFill>
                  <a:srgbClr val="F1F5F9"/>
                </a:solidFill>
                <a:latin typeface="Calibri"/>
              </a:rPr>
              <a:t>Before 2020: </a:t>
            </a:r>
            <a:r>
              <a:rPr sz="1500" b="0" i="0">
                <a:solidFill>
                  <a:srgbClr val="F1F5F9"/>
                </a:solidFill>
                <a:latin typeface="Calibri"/>
              </a:rPr>
              <a:t>median ~118 contracts/day and 382 zero days — not real exchange volume</a:t>
            </a:r>
          </a:p>
          <a:p>
            <a:pPr algn="l" marL="256032" indent="-256032">
              <a:lnSpc>
                <a:spcPct val="110000"/>
              </a:lnSpc>
              <a:spcAft>
                <a:spcPts val="1000"/>
              </a:spcAft>
              <a:buClr>
                <a:srgbClr val="F5BD4F"/>
              </a:buClr>
              <a:buChar char="•"/>
            </a:pPr>
            <a:r>
              <a:rPr sz="1500" b="1" i="0">
                <a:solidFill>
                  <a:srgbClr val="F1F5F9"/>
                </a:solidFill>
                <a:latin typeface="Calibri"/>
              </a:rPr>
              <a:t>From 2020: </a:t>
            </a:r>
            <a:r>
              <a:rPr sz="1500" b="0" i="0">
                <a:solidFill>
                  <a:srgbClr val="F1F5F9"/>
                </a:solidFill>
                <a:latin typeface="Calibri"/>
              </a:rPr>
              <a:t>median ~180,215/day — real COMEX volume</a:t>
            </a:r>
          </a:p>
          <a:p>
            <a:pPr algn="l" marL="256032" indent="-256032">
              <a:lnSpc>
                <a:spcPct val="110000"/>
              </a:lnSpc>
              <a:spcAft>
                <a:spcPts val="1000"/>
              </a:spcAft>
              <a:buClr>
                <a:srgbClr val="F5BD4F"/>
              </a:buClr>
              <a:buChar char="•"/>
            </a:pPr>
            <a:r>
              <a:rPr sz="1500" b="1" i="0">
                <a:solidFill>
                  <a:srgbClr val="F5BD4F"/>
                </a:solidFill>
                <a:latin typeface="Calibri"/>
              </a:rPr>
              <a:t>Decision: </a:t>
            </a:r>
            <a:r>
              <a:rPr sz="1500" b="0" i="0">
                <a:solidFill>
                  <a:srgbClr val="F1F5F9"/>
                </a:solidFill>
                <a:latin typeface="Calibri"/>
              </a:rPr>
              <a:t>volume Z-score only from 2020</a:t>
            </a:r>
          </a:p>
          <a:p>
            <a:pPr algn="l" marL="256032" indent="-256032">
              <a:lnSpc>
                <a:spcPct val="110000"/>
              </a:lnSpc>
              <a:spcAft>
                <a:spcPts val="1000"/>
              </a:spcAft>
              <a:buClr>
                <a:srgbClr val="F5BD4F"/>
              </a:buClr>
              <a:buChar char="•"/>
            </a:pPr>
            <a:r>
              <a:rPr sz="1500" b="1" i="0">
                <a:solidFill>
                  <a:srgbClr val="F1F5F9"/>
                </a:solidFill>
                <a:latin typeface="Calibri"/>
              </a:rPr>
              <a:t>Low-volume days </a:t>
            </a:r>
            <a:r>
              <a:rPr sz="1500" b="0" i="0">
                <a:solidFill>
                  <a:srgbClr val="F1F5F9"/>
                </a:solidFill>
                <a:latin typeface="Calibri"/>
              </a:rPr>
              <a:t>are contract rolls at month-end → only HIGH volume is treated as an anomaly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Algorithm 1: Rolling Z-score</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MEMBER B · DETECTION</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9</a:t>
            </a:r>
          </a:p>
        </p:txBody>
      </p:sp>
      <p:sp>
        <p:nvSpPr>
          <p:cNvPr id="7" name="Rounded Rectangle 6"/>
          <p:cNvSpPr/>
          <p:nvPr/>
        </p:nvSpPr>
        <p:spPr>
          <a:xfrm>
            <a:off x="548640" y="1417320"/>
            <a:ext cx="544068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503834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FORMULA</a:t>
            </a:r>
          </a:p>
        </p:txBody>
      </p:sp>
      <p:sp>
        <p:nvSpPr>
          <p:cNvPr id="9" name="TextBox 8"/>
          <p:cNvSpPr txBox="1"/>
          <p:nvPr/>
        </p:nvSpPr>
        <p:spPr>
          <a:xfrm>
            <a:off x="749808" y="1783080"/>
            <a:ext cx="5029200" cy="548640"/>
          </a:xfrm>
          <a:prstGeom prst="rect">
            <a:avLst/>
          </a:prstGeom>
          <a:noFill/>
        </p:spPr>
        <p:txBody>
          <a:bodyPr wrap="square" anchor="t" lIns="45720" rIns="45720" tIns="27432" bIns="27432">
            <a:spAutoFit/>
          </a:bodyPr>
          <a:lstStyle/>
          <a:p>
            <a:pPr algn="l">
              <a:lnSpc>
                <a:spcPct val="110000"/>
              </a:lnSpc>
              <a:spcAft>
                <a:spcPts val="0"/>
              </a:spcAft>
            </a:pPr>
            <a:r>
              <a:rPr sz="2800" b="1" i="0">
                <a:solidFill>
                  <a:srgbClr val="F5BD4F"/>
                </a:solidFill>
                <a:latin typeface="Consolas"/>
              </a:rPr>
              <a:t>Z</a:t>
            </a:r>
            <a:r>
              <a:rPr sz="2800" b="1" i="0" baseline="-25000">
                <a:solidFill>
                  <a:srgbClr val="F5BD4F"/>
                </a:solidFill>
                <a:latin typeface="Consolas"/>
              </a:rPr>
              <a:t>t</a:t>
            </a:r>
            <a:r>
              <a:rPr sz="2800" b="1" i="0">
                <a:solidFill>
                  <a:srgbClr val="F5BD4F"/>
                </a:solidFill>
                <a:latin typeface="Consolas"/>
              </a:rPr>
              <a:t> = (x</a:t>
            </a:r>
            <a:r>
              <a:rPr sz="2800" b="1" i="0" baseline="-25000">
                <a:solidFill>
                  <a:srgbClr val="F5BD4F"/>
                </a:solidFill>
                <a:latin typeface="Consolas"/>
              </a:rPr>
              <a:t>t</a:t>
            </a:r>
            <a:r>
              <a:rPr sz="2800" b="1" i="0">
                <a:solidFill>
                  <a:srgbClr val="F5BD4F"/>
                </a:solidFill>
                <a:latin typeface="Consolas"/>
              </a:rPr>
              <a:t> − μ</a:t>
            </a:r>
            <a:r>
              <a:rPr sz="2800" b="1" i="0" baseline="-25000">
                <a:solidFill>
                  <a:srgbClr val="F5BD4F"/>
                </a:solidFill>
                <a:latin typeface="Consolas"/>
              </a:rPr>
              <a:t>t</a:t>
            </a:r>
            <a:r>
              <a:rPr sz="2800" b="1" i="0">
                <a:solidFill>
                  <a:srgbClr val="F5BD4F"/>
                </a:solidFill>
                <a:latin typeface="Consolas"/>
              </a:rPr>
              <a:t>) / σ</a:t>
            </a:r>
            <a:r>
              <a:rPr sz="2800" b="1" i="0" baseline="-25000">
                <a:solidFill>
                  <a:srgbClr val="F5BD4F"/>
                </a:solidFill>
                <a:latin typeface="Consolas"/>
              </a:rPr>
              <a:t>t</a:t>
            </a:r>
          </a:p>
        </p:txBody>
      </p:sp>
      <p:sp>
        <p:nvSpPr>
          <p:cNvPr id="10" name="TextBox 9"/>
          <p:cNvSpPr txBox="1"/>
          <p:nvPr/>
        </p:nvSpPr>
        <p:spPr>
          <a:xfrm>
            <a:off x="749808" y="2377440"/>
            <a:ext cx="5029200" cy="457200"/>
          </a:xfrm>
          <a:prstGeom prst="rect">
            <a:avLst/>
          </a:prstGeom>
          <a:noFill/>
        </p:spPr>
        <p:txBody>
          <a:bodyPr wrap="square" anchor="t" lIns="45720" rIns="45720" tIns="27432" bIns="27432">
            <a:spAutoFit/>
          </a:bodyPr>
          <a:lstStyle/>
          <a:p>
            <a:pPr algn="l">
              <a:lnSpc>
                <a:spcPct val="110000"/>
              </a:lnSpc>
              <a:spcAft>
                <a:spcPts val="0"/>
              </a:spcAft>
            </a:pPr>
            <a:r>
              <a:rPr sz="1400" b="0" i="0">
                <a:solidFill>
                  <a:srgbClr val="94A3B8"/>
                </a:solidFill>
                <a:latin typeface="Calibri"/>
              </a:rPr>
              <a:t>μ</a:t>
            </a:r>
            <a:r>
              <a:rPr sz="1400" b="0" i="0" baseline="-25000">
                <a:solidFill>
                  <a:srgbClr val="94A3B8"/>
                </a:solidFill>
                <a:latin typeface="Calibri"/>
              </a:rPr>
              <a:t>t</a:t>
            </a:r>
            <a:r>
              <a:rPr sz="1400" b="0" i="0">
                <a:solidFill>
                  <a:srgbClr val="94A3B8"/>
                </a:solidFill>
                <a:latin typeface="Calibri"/>
              </a:rPr>
              <a:t>, σ</a:t>
            </a:r>
            <a:r>
              <a:rPr sz="1400" b="0" i="0" baseline="-25000">
                <a:solidFill>
                  <a:srgbClr val="94A3B8"/>
                </a:solidFill>
                <a:latin typeface="Calibri"/>
              </a:rPr>
              <a:t>t</a:t>
            </a:r>
            <a:r>
              <a:rPr sz="1400" b="0" i="0">
                <a:solidFill>
                  <a:srgbClr val="94A3B8"/>
                </a:solidFill>
                <a:latin typeface="Calibri"/>
              </a:rPr>
              <a:t> = mean and std of the previous 30 days</a:t>
            </a:r>
          </a:p>
        </p:txBody>
      </p:sp>
      <p:sp>
        <p:nvSpPr>
          <p:cNvPr id="11" name="Rounded Rectangle 10"/>
          <p:cNvSpPr/>
          <p:nvPr/>
        </p:nvSpPr>
        <p:spPr>
          <a:xfrm>
            <a:off x="749808" y="2834640"/>
            <a:ext cx="5029200" cy="1600200"/>
          </a:xfrm>
          <a:prstGeom prst="roundRect">
            <a:avLst>
              <a:gd name="adj" fmla="val 4000"/>
            </a:avLst>
          </a:prstGeom>
          <a:solidFill>
            <a:srgbClr val="08131C"/>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971800"/>
            <a:ext cx="4663440" cy="1325880"/>
          </a:xfrm>
          <a:prstGeom prst="rect">
            <a:avLst/>
          </a:prstGeom>
          <a:noFill/>
        </p:spPr>
        <p:txBody>
          <a:bodyPr wrap="square" anchor="t" lIns="45720" rIns="45720" tIns="27432" bIns="27432">
            <a:spAutoFit/>
          </a:bodyPr>
          <a:lstStyle/>
          <a:p>
            <a:pPr algn="l">
              <a:lnSpc>
                <a:spcPct val="105000"/>
              </a:lnSpc>
              <a:spcAft>
                <a:spcPts val="200"/>
              </a:spcAft>
            </a:pPr>
            <a:r>
              <a:rPr sz="1400" b="0" i="0">
                <a:solidFill>
                  <a:srgbClr val="F1F5F9"/>
                </a:solidFill>
                <a:latin typeface="Consolas"/>
              </a:rPr>
              <a:t>for each day t:</a:t>
            </a:r>
          </a:p>
          <a:p>
            <a:pPr algn="l">
              <a:lnSpc>
                <a:spcPct val="105000"/>
              </a:lnSpc>
              <a:spcAft>
                <a:spcPts val="200"/>
              </a:spcAft>
            </a:pPr>
            <a:r>
              <a:rPr sz="1400" b="0" i="0">
                <a:solidFill>
                  <a:srgbClr val="F1F5F9"/>
                </a:solidFill>
                <a:latin typeface="Consolas"/>
              </a:rPr>
              <a:t>    past  = x[t-30 : t]   </a:t>
            </a:r>
            <a:r>
              <a:rPr sz="1400" b="0" i="0">
                <a:solidFill>
                  <a:srgbClr val="64748B"/>
                </a:solidFill>
                <a:latin typeface="Consolas"/>
              </a:rPr>
              <a:t># today excluded</a:t>
            </a:r>
          </a:p>
          <a:p>
            <a:pPr algn="l">
              <a:lnSpc>
                <a:spcPct val="105000"/>
              </a:lnSpc>
              <a:spcAft>
                <a:spcPts val="200"/>
              </a:spcAft>
            </a:pPr>
            <a:r>
              <a:rPr sz="1400" b="0" i="0">
                <a:solidFill>
                  <a:srgbClr val="F1F5F9"/>
                </a:solidFill>
                <a:latin typeface="Consolas"/>
              </a:rPr>
              <a:t>    mu    = mean(past)</a:t>
            </a:r>
          </a:p>
          <a:p>
            <a:pPr algn="l">
              <a:lnSpc>
                <a:spcPct val="105000"/>
              </a:lnSpc>
              <a:spcAft>
                <a:spcPts val="200"/>
              </a:spcAft>
            </a:pPr>
            <a:r>
              <a:rPr sz="1400" b="0" i="0">
                <a:solidFill>
                  <a:srgbClr val="F1F5F9"/>
                </a:solidFill>
                <a:latin typeface="Consolas"/>
              </a:rPr>
              <a:t>    sigma = std(past)</a:t>
            </a:r>
          </a:p>
          <a:p>
            <a:pPr algn="l">
              <a:lnSpc>
                <a:spcPct val="105000"/>
              </a:lnSpc>
              <a:spcAft>
                <a:spcPts val="200"/>
              </a:spcAft>
            </a:pPr>
            <a:r>
              <a:rPr sz="1400" b="0" i="0">
                <a:solidFill>
                  <a:srgbClr val="F1F5F9"/>
                </a:solidFill>
                <a:latin typeface="Consolas"/>
              </a:rPr>
              <a:t>    Z[t]  = (x[t] - mu) / sigma</a:t>
            </a:r>
          </a:p>
        </p:txBody>
      </p:sp>
      <p:sp>
        <p:nvSpPr>
          <p:cNvPr id="13" name="TextBox 12"/>
          <p:cNvSpPr txBox="1"/>
          <p:nvPr/>
        </p:nvSpPr>
        <p:spPr>
          <a:xfrm>
            <a:off x="749808" y="4572000"/>
            <a:ext cx="5029200" cy="1554480"/>
          </a:xfrm>
          <a:prstGeom prst="rect">
            <a:avLst/>
          </a:prstGeom>
          <a:noFill/>
        </p:spPr>
        <p:txBody>
          <a:bodyPr wrap="square" anchor="t" lIns="45720" rIns="45720" tIns="27432" bIns="27432">
            <a:spAutoFit/>
          </a:bodyPr>
          <a:lstStyle/>
          <a:p>
            <a:pPr algn="l" marL="256032" indent="-256032">
              <a:lnSpc>
                <a:spcPct val="110000"/>
              </a:lnSpc>
              <a:spcAft>
                <a:spcPts val="400"/>
              </a:spcAft>
              <a:buClr>
                <a:srgbClr val="F5BD4F"/>
              </a:buClr>
              <a:buChar char="•"/>
            </a:pPr>
            <a:r>
              <a:rPr sz="1400" b="1" i="0">
                <a:solidFill>
                  <a:srgbClr val="F1F5F9"/>
                </a:solidFill>
                <a:latin typeface="Calibri"/>
              </a:rPr>
              <a:t>No look-ahead: </a:t>
            </a:r>
            <a:r>
              <a:rPr sz="1400" b="0" i="0">
                <a:solidFill>
                  <a:srgbClr val="F1F5F9"/>
                </a:solidFill>
                <a:latin typeface="Calibri"/>
              </a:rPr>
              <a:t>only past data is used</a:t>
            </a:r>
          </a:p>
          <a:p>
            <a:pPr algn="l" marL="256032" indent="-256032">
              <a:lnSpc>
                <a:spcPct val="110000"/>
              </a:lnSpc>
              <a:spcAft>
                <a:spcPts val="400"/>
              </a:spcAft>
              <a:buClr>
                <a:srgbClr val="F5BD4F"/>
              </a:buClr>
              <a:buChar char="•"/>
            </a:pPr>
            <a:r>
              <a:rPr sz="1400" b="1" i="0">
                <a:solidFill>
                  <a:srgbClr val="F1F5F9"/>
                </a:solidFill>
                <a:latin typeface="Calibri"/>
              </a:rPr>
              <a:t>Adaptive: </a:t>
            </a:r>
            <a:r>
              <a:rPr sz="1400" b="0" i="0">
                <a:solidFill>
                  <a:srgbClr val="F1F5F9"/>
                </a:solidFill>
                <a:latin typeface="Calibri"/>
              </a:rPr>
              <a:t>window follows calm vs. volatile periods</a:t>
            </a:r>
          </a:p>
          <a:p>
            <a:pPr algn="l" marL="256032" indent="-256032">
              <a:lnSpc>
                <a:spcPct val="110000"/>
              </a:lnSpc>
              <a:spcAft>
                <a:spcPts val="400"/>
              </a:spcAft>
              <a:buClr>
                <a:srgbClr val="F5BD4F"/>
              </a:buClr>
              <a:buChar char="•"/>
            </a:pPr>
            <a:r>
              <a:rPr sz="1400" b="1" i="0">
                <a:solidFill>
                  <a:srgbClr val="F1F5F9"/>
                </a:solidFill>
                <a:latin typeface="Calibri"/>
              </a:rPr>
              <a:t>Applied to: </a:t>
            </a:r>
            <a:r>
              <a:rPr sz="1400" b="0" i="0">
                <a:solidFill>
                  <a:srgbClr val="F1F5F9"/>
                </a:solidFill>
                <a:latin typeface="Calibri"/>
              </a:rPr>
              <a:t>daily returns and log(volume)</a:t>
            </a:r>
          </a:p>
        </p:txBody>
      </p:sp>
      <p:sp>
        <p:nvSpPr>
          <p:cNvPr id="14" name="Rounded Rectangle 13"/>
          <p:cNvSpPr/>
          <p:nvPr/>
        </p:nvSpPr>
        <p:spPr>
          <a:xfrm>
            <a:off x="6217920" y="1417320"/>
            <a:ext cx="5422392"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1545336"/>
            <a:ext cx="5020055"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WORKED EXAMPLE: BREXIT VOTE, 24 JUN 2016</a:t>
            </a:r>
          </a:p>
        </p:txBody>
      </p:sp>
      <p:pic>
        <p:nvPicPr>
          <p:cNvPr id="16" name="Picture 15" descr="zscore_window.png"/>
          <p:cNvPicPr>
            <a:picLocks noChangeAspect="1"/>
          </p:cNvPicPr>
          <p:nvPr/>
        </p:nvPicPr>
        <p:blipFill>
          <a:blip r:embed="rId3"/>
          <a:stretch>
            <a:fillRect/>
          </a:stretch>
        </p:blipFill>
        <p:spPr>
          <a:xfrm>
            <a:off x="6355080" y="1785508"/>
            <a:ext cx="5148071" cy="3378422"/>
          </a:xfrm>
          <a:prstGeom prst="rect">
            <a:avLst/>
          </a:prstGeom>
        </p:spPr>
      </p:pic>
      <p:sp>
        <p:nvSpPr>
          <p:cNvPr id="17" name="TextBox 16"/>
          <p:cNvSpPr txBox="1"/>
          <p:nvPr/>
        </p:nvSpPr>
        <p:spPr>
          <a:xfrm>
            <a:off x="6419088" y="5257800"/>
            <a:ext cx="5029200" cy="868680"/>
          </a:xfrm>
          <a:prstGeom prst="rect">
            <a:avLst/>
          </a:prstGeom>
          <a:noFill/>
        </p:spPr>
        <p:txBody>
          <a:bodyPr wrap="square" anchor="t" lIns="45720" rIns="45720" tIns="27432" bIns="27432">
            <a:spAutoFit/>
          </a:bodyPr>
          <a:lstStyle/>
          <a:p>
            <a:pPr algn="l">
              <a:lnSpc>
                <a:spcPct val="110000"/>
              </a:lnSpc>
              <a:spcAft>
                <a:spcPts val="0"/>
              </a:spcAft>
            </a:pPr>
            <a:r>
              <a:rPr sz="1400" b="0" i="0">
                <a:solidFill>
                  <a:srgbClr val="F1F5F9"/>
                </a:solidFill>
                <a:latin typeface="Calibri"/>
              </a:rPr>
              <a:t>Z = (4.66% − -0.03%) / 0.81% = 5.8  →  far outside the normal ±2.5 range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Algorithm 1 in Action: the April 2013 Gold Crash</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MEMBER B · DETECTION</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10</a:t>
            </a:r>
          </a:p>
        </p:txBody>
      </p:sp>
      <p:sp>
        <p:nvSpPr>
          <p:cNvPr id="7" name="Rounded Rectangle 6"/>
          <p:cNvSpPr/>
          <p:nvPr/>
        </p:nvSpPr>
        <p:spPr>
          <a:xfrm>
            <a:off x="548640" y="1417320"/>
            <a:ext cx="11091672" cy="393192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1068933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GOLD PRICE (TOP) AND RETURN Z-SCORE (BOTTOM), JAN–JUL 2013</a:t>
            </a:r>
          </a:p>
        </p:txBody>
      </p:sp>
      <p:pic>
        <p:nvPicPr>
          <p:cNvPr id="9" name="Picture 8" descr="zscore_2013.png"/>
          <p:cNvPicPr>
            <a:picLocks noChangeAspect="1"/>
          </p:cNvPicPr>
          <p:nvPr/>
        </p:nvPicPr>
        <p:blipFill>
          <a:blip r:embed="rId3"/>
          <a:stretch>
            <a:fillRect/>
          </a:stretch>
        </p:blipFill>
        <p:spPr>
          <a:xfrm>
            <a:off x="1130590" y="1783080"/>
            <a:ext cx="9927771" cy="3474720"/>
          </a:xfrm>
          <a:prstGeom prst="rect">
            <a:avLst/>
          </a:prstGeom>
        </p:spPr>
      </p:pic>
      <p:sp>
        <p:nvSpPr>
          <p:cNvPr id="10" name="Rounded Rectangle 9"/>
          <p:cNvSpPr/>
          <p:nvPr/>
        </p:nvSpPr>
        <p:spPr>
          <a:xfrm>
            <a:off x="548640" y="5486400"/>
            <a:ext cx="3557016" cy="73152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532120"/>
            <a:ext cx="3291840" cy="658368"/>
          </a:xfrm>
          <a:prstGeom prst="rect">
            <a:avLst/>
          </a:prstGeom>
          <a:noFill/>
        </p:spPr>
        <p:txBody>
          <a:bodyPr wrap="square" anchor="ctr" lIns="45720" rIns="45720" tIns="27432" bIns="27432">
            <a:spAutoFit/>
          </a:bodyPr>
          <a:lstStyle/>
          <a:p>
            <a:pPr algn="l">
              <a:lnSpc>
                <a:spcPct val="110000"/>
              </a:lnSpc>
              <a:spcAft>
                <a:spcPts val="0"/>
              </a:spcAft>
            </a:pPr>
            <a:r>
              <a:rPr sz="1300" b="1" i="0">
                <a:solidFill>
                  <a:srgbClr val="F5BD4F"/>
                </a:solidFill>
                <a:latin typeface="Calibri"/>
              </a:rPr>
              <a:t>12 &amp; 15 Apr 2013  </a:t>
            </a:r>
            <a:r>
              <a:rPr sz="1300" b="0" i="0">
                <a:solidFill>
                  <a:srgbClr val="F1F5F9"/>
                </a:solidFill>
                <a:latin typeface="Calibri"/>
              </a:rPr>
              <a:t>Z = -5.5 and -9.0: both flagged</a:t>
            </a:r>
          </a:p>
        </p:txBody>
      </p:sp>
      <p:sp>
        <p:nvSpPr>
          <p:cNvPr id="12" name="Rounded Rectangle 11"/>
          <p:cNvSpPr/>
          <p:nvPr/>
        </p:nvSpPr>
        <p:spPr>
          <a:xfrm>
            <a:off x="4306824" y="5486400"/>
            <a:ext cx="3557016" cy="73152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71416" y="5532120"/>
            <a:ext cx="3291840" cy="658368"/>
          </a:xfrm>
          <a:prstGeom prst="rect">
            <a:avLst/>
          </a:prstGeom>
          <a:noFill/>
        </p:spPr>
        <p:txBody>
          <a:bodyPr wrap="square" anchor="ctr" lIns="45720" rIns="45720" tIns="27432" bIns="27432">
            <a:spAutoFit/>
          </a:bodyPr>
          <a:lstStyle/>
          <a:p>
            <a:pPr algn="l">
              <a:lnSpc>
                <a:spcPct val="110000"/>
              </a:lnSpc>
              <a:spcAft>
                <a:spcPts val="0"/>
              </a:spcAft>
            </a:pPr>
            <a:r>
              <a:rPr sz="1300" b="1" i="0">
                <a:solidFill>
                  <a:srgbClr val="F5BD4F"/>
                </a:solidFill>
                <a:latin typeface="Calibri"/>
              </a:rPr>
              <a:t>Threshold ±2.5  </a:t>
            </a:r>
            <a:r>
              <a:rPr sz="1300" b="0" i="0">
                <a:solidFill>
                  <a:srgbClr val="F1F5F9"/>
                </a:solidFill>
                <a:latin typeface="Calibri"/>
              </a:rPr>
              <a:t>only a few days a year cross it</a:t>
            </a:r>
          </a:p>
        </p:txBody>
      </p:sp>
      <p:sp>
        <p:nvSpPr>
          <p:cNvPr id="14" name="Rounded Rectangle 13"/>
          <p:cNvSpPr/>
          <p:nvPr/>
        </p:nvSpPr>
        <p:spPr>
          <a:xfrm>
            <a:off x="8065008" y="5486400"/>
            <a:ext cx="3557016" cy="73152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5532120"/>
            <a:ext cx="3291840" cy="658368"/>
          </a:xfrm>
          <a:prstGeom prst="rect">
            <a:avLst/>
          </a:prstGeom>
          <a:noFill/>
        </p:spPr>
        <p:txBody>
          <a:bodyPr wrap="square" anchor="ctr" lIns="45720" rIns="45720" tIns="27432" bIns="27432">
            <a:spAutoFit/>
          </a:bodyPr>
          <a:lstStyle/>
          <a:p>
            <a:pPr algn="l">
              <a:lnSpc>
                <a:spcPct val="110000"/>
              </a:lnSpc>
              <a:spcAft>
                <a:spcPts val="0"/>
              </a:spcAft>
            </a:pPr>
            <a:r>
              <a:rPr sz="1300" b="1" i="0">
                <a:solidFill>
                  <a:srgbClr val="F5BD4F"/>
                </a:solidFill>
                <a:latin typeface="Calibri"/>
              </a:rPr>
              <a:t>Window adapts  </a:t>
            </a:r>
            <a:r>
              <a:rPr sz="1300" b="0" i="0">
                <a:solidFill>
                  <a:srgbClr val="F1F5F9"/>
                </a:solidFill>
                <a:latin typeface="Calibri"/>
              </a:rPr>
              <a:t>after the crash σ is larger, so later moves score lower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Algorithm 2: Anomaly Scoring &amp; Labelling</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MEMBER B · DETECTION</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11</a:t>
            </a:r>
          </a:p>
        </p:txBody>
      </p:sp>
      <p:sp>
        <p:nvSpPr>
          <p:cNvPr id="7" name="Rounded Rectangle 6"/>
          <p:cNvSpPr/>
          <p:nvPr/>
        </p:nvSpPr>
        <p:spPr>
          <a:xfrm>
            <a:off x="548640" y="1417320"/>
            <a:ext cx="598932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5586983"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STEPS</a:t>
            </a:r>
          </a:p>
        </p:txBody>
      </p:sp>
      <p:sp>
        <p:nvSpPr>
          <p:cNvPr id="9" name="Rounded Rectangle 8"/>
          <p:cNvSpPr/>
          <p:nvPr/>
        </p:nvSpPr>
        <p:spPr>
          <a:xfrm>
            <a:off x="749808" y="1828800"/>
            <a:ext cx="5586984" cy="2240280"/>
          </a:xfrm>
          <a:prstGeom prst="roundRect">
            <a:avLst>
              <a:gd name="adj" fmla="val 4000"/>
            </a:avLst>
          </a:prstGeom>
          <a:solidFill>
            <a:srgbClr val="08131C"/>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60"/>
            <a:ext cx="5221224" cy="1965960"/>
          </a:xfrm>
          <a:prstGeom prst="rect">
            <a:avLst/>
          </a:prstGeom>
          <a:noFill/>
        </p:spPr>
        <p:txBody>
          <a:bodyPr wrap="square" anchor="t" lIns="45720" rIns="45720" tIns="27432" bIns="27432">
            <a:spAutoFit/>
          </a:bodyPr>
          <a:lstStyle/>
          <a:p>
            <a:pPr algn="l">
              <a:lnSpc>
                <a:spcPct val="105000"/>
              </a:lnSpc>
              <a:spcAft>
                <a:spcPts val="200"/>
              </a:spcAft>
            </a:pPr>
            <a:r>
              <a:rPr sz="1300" b="0" i="0">
                <a:solidFill>
                  <a:srgbClr val="F1F5F9"/>
                </a:solidFill>
                <a:latin typeface="Consolas"/>
              </a:rPr>
              <a:t/>
            </a:r>
            <a:r>
              <a:rPr sz="1300" b="0" i="0">
                <a:solidFill>
                  <a:srgbClr val="64748B"/>
                </a:solidFill>
                <a:latin typeface="Consolas"/>
              </a:rPr>
              <a:t># 1. cap and scale to 0..1</a:t>
            </a:r>
          </a:p>
          <a:p>
            <a:pPr algn="l">
              <a:lnSpc>
                <a:spcPct val="105000"/>
              </a:lnSpc>
              <a:spcAft>
                <a:spcPts val="200"/>
              </a:spcAft>
            </a:pPr>
            <a:r>
              <a:rPr sz="1300" b="0" i="0">
                <a:solidFill>
                  <a:srgbClr val="F1F5F9"/>
                </a:solidFill>
                <a:latin typeface="Consolas"/>
              </a:rPr>
              <a:t>r = min(|Z_return|, 5) / 5</a:t>
            </a:r>
          </a:p>
          <a:p>
            <a:pPr algn="l">
              <a:lnSpc>
                <a:spcPct val="105000"/>
              </a:lnSpc>
              <a:spcAft>
                <a:spcPts val="200"/>
              </a:spcAft>
            </a:pPr>
            <a:r>
              <a:rPr sz="1300" b="0" i="0">
                <a:solidFill>
                  <a:srgbClr val="F1F5F9"/>
                </a:solidFill>
                <a:latin typeface="Consolas"/>
              </a:rPr>
              <a:t>v = min(max(Z_volume, 0), 5) / 5</a:t>
            </a:r>
          </a:p>
          <a:p>
            <a:pPr algn="l">
              <a:lnSpc>
                <a:spcPct val="105000"/>
              </a:lnSpc>
              <a:spcAft>
                <a:spcPts val="200"/>
              </a:spcAft>
            </a:pPr>
            <a:r>
              <a:rPr sz="1300" b="0" i="0">
                <a:solidFill>
                  <a:srgbClr val="F1F5F9"/>
                </a:solidFill>
                <a:latin typeface="Consolas"/>
              </a:rPr>
              <a:t/>
            </a:r>
            <a:r>
              <a:rPr sz="1300" b="0" i="0">
                <a:solidFill>
                  <a:srgbClr val="64748B"/>
                </a:solidFill>
                <a:latin typeface="Consolas"/>
              </a:rPr>
              <a:t># 2. weighted score (w = 0.5)</a:t>
            </a:r>
          </a:p>
          <a:p>
            <a:pPr algn="l">
              <a:lnSpc>
                <a:spcPct val="105000"/>
              </a:lnSpc>
              <a:spcAft>
                <a:spcPts val="200"/>
              </a:spcAft>
            </a:pPr>
            <a:r>
              <a:rPr sz="1300" b="0" i="0">
                <a:solidFill>
                  <a:srgbClr val="F1F5F9"/>
                </a:solidFill>
                <a:latin typeface="Consolas"/>
              </a:rPr>
              <a:t>score = 100 * (r + 0.5*v) / 1.5</a:t>
            </a:r>
          </a:p>
          <a:p>
            <a:pPr algn="l">
              <a:lnSpc>
                <a:spcPct val="105000"/>
              </a:lnSpc>
              <a:spcAft>
                <a:spcPts val="200"/>
              </a:spcAft>
            </a:pPr>
            <a:r>
              <a:rPr sz="1300" b="0" i="0">
                <a:solidFill>
                  <a:srgbClr val="F1F5F9"/>
                </a:solidFill>
                <a:latin typeface="Consolas"/>
              </a:rPr>
              <a:t/>
            </a:r>
            <a:r>
              <a:rPr sz="1300" b="0" i="0">
                <a:solidFill>
                  <a:srgbClr val="64748B"/>
                </a:solidFill>
                <a:latin typeface="Consolas"/>
              </a:rPr>
              <a:t># 3. flag</a:t>
            </a:r>
          </a:p>
          <a:p>
            <a:pPr algn="l">
              <a:lnSpc>
                <a:spcPct val="105000"/>
              </a:lnSpc>
              <a:spcAft>
                <a:spcPts val="200"/>
              </a:spcAft>
            </a:pPr>
            <a:r>
              <a:rPr sz="1300" b="0" i="0">
                <a:solidFill>
                  <a:srgbClr val="F1F5F9"/>
                </a:solidFill>
                <a:latin typeface="Consolas"/>
              </a:rPr>
              <a:t>anomaly = |Z_return| &gt;= 2.5 or Z_volume &gt;= 2.5</a:t>
            </a:r>
          </a:p>
        </p:txBody>
      </p:sp>
      <p:sp>
        <p:nvSpPr>
          <p:cNvPr id="11" name="TextBox 10"/>
          <p:cNvSpPr txBox="1"/>
          <p:nvPr/>
        </p:nvSpPr>
        <p:spPr>
          <a:xfrm>
            <a:off x="749808" y="4206240"/>
            <a:ext cx="5586984" cy="320040"/>
          </a:xfrm>
          <a:prstGeom prst="rect">
            <a:avLst/>
          </a:prstGeom>
          <a:noFill/>
        </p:spPr>
        <p:txBody>
          <a:bodyPr wrap="square" anchor="t" lIns="45720" rIns="45720" tIns="27432" bIns="27432">
            <a:spAutoFit/>
          </a:bodyPr>
          <a:lstStyle/>
          <a:p>
            <a:pPr algn="l">
              <a:lnSpc>
                <a:spcPct val="110000"/>
              </a:lnSpc>
              <a:spcAft>
                <a:spcPts val="0"/>
              </a:spcAft>
            </a:pPr>
            <a:r>
              <a:rPr sz="1200" b="1" i="0">
                <a:solidFill>
                  <a:srgbClr val="14B8A6"/>
                </a:solidFill>
                <a:latin typeface="Calibri"/>
              </a:rPr>
              <a:t>4. LABEL</a:t>
            </a:r>
          </a:p>
        </p:txBody>
      </p:sp>
      <p:sp>
        <p:nvSpPr>
          <p:cNvPr id="12" name="TextBox 11"/>
          <p:cNvSpPr txBox="1"/>
          <p:nvPr/>
        </p:nvSpPr>
        <p:spPr>
          <a:xfrm>
            <a:off x="749808" y="4553712"/>
            <a:ext cx="2743200" cy="411480"/>
          </a:xfrm>
          <a:prstGeom prst="rect">
            <a:avLst/>
          </a:prstGeom>
          <a:noFill/>
        </p:spPr>
        <p:txBody>
          <a:bodyPr wrap="square" anchor="ctr" lIns="45720" rIns="45720" tIns="27432" bIns="27432">
            <a:spAutoFit/>
          </a:bodyPr>
          <a:lstStyle/>
          <a:p>
            <a:pPr algn="l">
              <a:lnSpc>
                <a:spcPct val="110000"/>
              </a:lnSpc>
              <a:spcAft>
                <a:spcPts val="0"/>
              </a:spcAft>
            </a:pPr>
            <a:r>
              <a:rPr sz="1400" b="0" i="0">
                <a:solidFill>
                  <a:srgbClr val="F1F5F9"/>
                </a:solidFill>
                <a:latin typeface="Consolas"/>
              </a:rPr>
              <a:t>Z_return ≥ +2.5</a:t>
            </a:r>
          </a:p>
        </p:txBody>
      </p:sp>
      <p:sp>
        <p:nvSpPr>
          <p:cNvPr id="13" name="Rounded Rectangle 12"/>
          <p:cNvSpPr/>
          <p:nvPr/>
        </p:nvSpPr>
        <p:spPr>
          <a:xfrm>
            <a:off x="3657600" y="4581144"/>
            <a:ext cx="2194560" cy="36576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4581144"/>
            <a:ext cx="2194560" cy="365760"/>
          </a:xfrm>
          <a:prstGeom prst="rect">
            <a:avLst/>
          </a:prstGeom>
          <a:noFill/>
        </p:spPr>
        <p:txBody>
          <a:bodyPr wrap="square" anchor="ctr" lIns="45720" rIns="45720" tIns="27432" bIns="27432">
            <a:spAutoFit/>
          </a:bodyPr>
          <a:lstStyle/>
          <a:p>
            <a:pPr algn="ctr">
              <a:lnSpc>
                <a:spcPct val="110000"/>
              </a:lnSpc>
              <a:spcAft>
                <a:spcPts val="0"/>
              </a:spcAft>
            </a:pPr>
            <a:r>
              <a:rPr sz="1300" b="1" i="0">
                <a:solidFill>
                  <a:srgbClr val="10B981"/>
                </a:solidFill>
                <a:latin typeface="Calibri"/>
              </a:rPr>
              <a:t>Upward spike</a:t>
            </a:r>
          </a:p>
        </p:txBody>
      </p:sp>
      <p:sp>
        <p:nvSpPr>
          <p:cNvPr id="15" name="TextBox 14"/>
          <p:cNvSpPr txBox="1"/>
          <p:nvPr/>
        </p:nvSpPr>
        <p:spPr>
          <a:xfrm>
            <a:off x="749808" y="5056632"/>
            <a:ext cx="2743200" cy="411480"/>
          </a:xfrm>
          <a:prstGeom prst="rect">
            <a:avLst/>
          </a:prstGeom>
          <a:noFill/>
        </p:spPr>
        <p:txBody>
          <a:bodyPr wrap="square" anchor="ctr" lIns="45720" rIns="45720" tIns="27432" bIns="27432">
            <a:spAutoFit/>
          </a:bodyPr>
          <a:lstStyle/>
          <a:p>
            <a:pPr algn="l">
              <a:lnSpc>
                <a:spcPct val="110000"/>
              </a:lnSpc>
              <a:spcAft>
                <a:spcPts val="0"/>
              </a:spcAft>
            </a:pPr>
            <a:r>
              <a:rPr sz="1400" b="0" i="0">
                <a:solidFill>
                  <a:srgbClr val="F1F5F9"/>
                </a:solidFill>
                <a:latin typeface="Consolas"/>
              </a:rPr>
              <a:t>Z_return ≤ −2.5</a:t>
            </a:r>
          </a:p>
        </p:txBody>
      </p:sp>
      <p:sp>
        <p:nvSpPr>
          <p:cNvPr id="16" name="Rounded Rectangle 15"/>
          <p:cNvSpPr/>
          <p:nvPr/>
        </p:nvSpPr>
        <p:spPr>
          <a:xfrm>
            <a:off x="3657600" y="5084064"/>
            <a:ext cx="2194560" cy="36576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5084064"/>
            <a:ext cx="2194560" cy="365760"/>
          </a:xfrm>
          <a:prstGeom prst="rect">
            <a:avLst/>
          </a:prstGeom>
          <a:noFill/>
        </p:spPr>
        <p:txBody>
          <a:bodyPr wrap="square" anchor="ctr" lIns="45720" rIns="45720" tIns="27432" bIns="27432">
            <a:spAutoFit/>
          </a:bodyPr>
          <a:lstStyle/>
          <a:p>
            <a:pPr algn="ctr">
              <a:lnSpc>
                <a:spcPct val="110000"/>
              </a:lnSpc>
              <a:spcAft>
                <a:spcPts val="0"/>
              </a:spcAft>
            </a:pPr>
            <a:r>
              <a:rPr sz="1300" b="1" i="0">
                <a:solidFill>
                  <a:srgbClr val="F43F5E"/>
                </a:solidFill>
                <a:latin typeface="Calibri"/>
              </a:rPr>
              <a:t>Downward shock</a:t>
            </a:r>
          </a:p>
        </p:txBody>
      </p:sp>
      <p:sp>
        <p:nvSpPr>
          <p:cNvPr id="18" name="TextBox 17"/>
          <p:cNvSpPr txBox="1"/>
          <p:nvPr/>
        </p:nvSpPr>
        <p:spPr>
          <a:xfrm>
            <a:off x="749808" y="5559552"/>
            <a:ext cx="2743200" cy="411480"/>
          </a:xfrm>
          <a:prstGeom prst="rect">
            <a:avLst/>
          </a:prstGeom>
          <a:noFill/>
        </p:spPr>
        <p:txBody>
          <a:bodyPr wrap="square" anchor="ctr" lIns="45720" rIns="45720" tIns="27432" bIns="27432">
            <a:spAutoFit/>
          </a:bodyPr>
          <a:lstStyle/>
          <a:p>
            <a:pPr algn="l">
              <a:lnSpc>
                <a:spcPct val="110000"/>
              </a:lnSpc>
              <a:spcAft>
                <a:spcPts val="0"/>
              </a:spcAft>
            </a:pPr>
            <a:r>
              <a:rPr sz="1400" b="0" i="0">
                <a:solidFill>
                  <a:srgbClr val="F1F5F9"/>
                </a:solidFill>
                <a:latin typeface="Consolas"/>
              </a:rPr>
              <a:t>only volume ≥ 2.5</a:t>
            </a:r>
          </a:p>
        </p:txBody>
      </p:sp>
      <p:sp>
        <p:nvSpPr>
          <p:cNvPr id="19" name="Rounded Rectangle 18"/>
          <p:cNvSpPr/>
          <p:nvPr/>
        </p:nvSpPr>
        <p:spPr>
          <a:xfrm>
            <a:off x="3657600" y="5586984"/>
            <a:ext cx="2194560" cy="365760"/>
          </a:xfrm>
          <a:prstGeom prst="roundRect">
            <a:avLst>
              <a:gd name="adj" fmla="val 30000"/>
            </a:avLst>
          </a:prstGeom>
          <a:solidFill>
            <a:srgbClr val="10232D"/>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5586984"/>
            <a:ext cx="2194560" cy="365760"/>
          </a:xfrm>
          <a:prstGeom prst="rect">
            <a:avLst/>
          </a:prstGeom>
          <a:noFill/>
        </p:spPr>
        <p:txBody>
          <a:bodyPr wrap="square" anchor="ctr" lIns="45720" rIns="45720" tIns="27432" bIns="27432">
            <a:spAutoFit/>
          </a:bodyPr>
          <a:lstStyle/>
          <a:p>
            <a:pPr algn="ctr">
              <a:lnSpc>
                <a:spcPct val="110000"/>
              </a:lnSpc>
              <a:spcAft>
                <a:spcPts val="0"/>
              </a:spcAft>
            </a:pPr>
            <a:r>
              <a:rPr sz="1300" b="1" i="0">
                <a:solidFill>
                  <a:srgbClr val="38BDF8"/>
                </a:solidFill>
                <a:latin typeface="Calibri"/>
              </a:rPr>
              <a:t>Volume spike</a:t>
            </a:r>
          </a:p>
        </p:txBody>
      </p:sp>
      <p:sp>
        <p:nvSpPr>
          <p:cNvPr id="21" name="Rounded Rectangle 20"/>
          <p:cNvSpPr/>
          <p:nvPr/>
        </p:nvSpPr>
        <p:spPr>
          <a:xfrm>
            <a:off x="6766560" y="1417320"/>
            <a:ext cx="1133856" cy="137160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1536192"/>
            <a:ext cx="1133856" cy="548640"/>
          </a:xfrm>
          <a:prstGeom prst="rect">
            <a:avLst/>
          </a:prstGeom>
          <a:noFill/>
        </p:spPr>
        <p:txBody>
          <a:bodyPr wrap="square" anchor="t" lIns="45720" rIns="45720" tIns="27432" bIns="27432">
            <a:spAutoFit/>
          </a:bodyPr>
          <a:lstStyle/>
          <a:p>
            <a:pPr algn="ctr">
              <a:lnSpc>
                <a:spcPct val="110000"/>
              </a:lnSpc>
              <a:spcAft>
                <a:spcPts val="0"/>
              </a:spcAft>
            </a:pPr>
            <a:r>
              <a:rPr sz="2600" b="1" i="0">
                <a:solidFill>
                  <a:srgbClr val="F5BD4F"/>
                </a:solidFill>
                <a:latin typeface="Calibri"/>
              </a:rPr>
              <a:t>239</a:t>
            </a:r>
          </a:p>
        </p:txBody>
      </p:sp>
      <p:sp>
        <p:nvSpPr>
          <p:cNvPr id="23" name="TextBox 22"/>
          <p:cNvSpPr txBox="1"/>
          <p:nvPr/>
        </p:nvSpPr>
        <p:spPr>
          <a:xfrm>
            <a:off x="6812280" y="2103120"/>
            <a:ext cx="1042415" cy="640080"/>
          </a:xfrm>
          <a:prstGeom prst="rect">
            <a:avLst/>
          </a:prstGeom>
          <a:noFill/>
        </p:spPr>
        <p:txBody>
          <a:bodyPr wrap="square" anchor="t" lIns="45720" rIns="45720" tIns="27432" bIns="27432">
            <a:spAutoFit/>
          </a:bodyPr>
          <a:lstStyle/>
          <a:p>
            <a:pPr algn="ctr">
              <a:lnSpc>
                <a:spcPct val="95000"/>
              </a:lnSpc>
              <a:spcAft>
                <a:spcPts val="0"/>
              </a:spcAft>
            </a:pPr>
            <a:r>
              <a:rPr sz="1100" b="0" i="0">
                <a:solidFill>
                  <a:srgbClr val="94A3B8"/>
                </a:solidFill>
                <a:latin typeface="Calibri"/>
              </a:rPr>
              <a:t>anomalous days (3.9%)</a:t>
            </a:r>
          </a:p>
        </p:txBody>
      </p:sp>
      <p:sp>
        <p:nvSpPr>
          <p:cNvPr id="24" name="Rounded Rectangle 23"/>
          <p:cNvSpPr/>
          <p:nvPr/>
        </p:nvSpPr>
        <p:spPr>
          <a:xfrm>
            <a:off x="8005572" y="1417320"/>
            <a:ext cx="1133856" cy="137160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05572" y="1536192"/>
            <a:ext cx="1133856" cy="548640"/>
          </a:xfrm>
          <a:prstGeom prst="rect">
            <a:avLst/>
          </a:prstGeom>
          <a:noFill/>
        </p:spPr>
        <p:txBody>
          <a:bodyPr wrap="square" anchor="t" lIns="45720" rIns="45720" tIns="27432" bIns="27432">
            <a:spAutoFit/>
          </a:bodyPr>
          <a:lstStyle/>
          <a:p>
            <a:pPr algn="ctr">
              <a:lnSpc>
                <a:spcPct val="110000"/>
              </a:lnSpc>
              <a:spcAft>
                <a:spcPts val="0"/>
              </a:spcAft>
            </a:pPr>
            <a:r>
              <a:rPr sz="2600" b="1" i="0">
                <a:solidFill>
                  <a:srgbClr val="10B981"/>
                </a:solidFill>
                <a:latin typeface="Calibri"/>
              </a:rPr>
              <a:t>101</a:t>
            </a:r>
          </a:p>
        </p:txBody>
      </p:sp>
      <p:sp>
        <p:nvSpPr>
          <p:cNvPr id="26" name="TextBox 25"/>
          <p:cNvSpPr txBox="1"/>
          <p:nvPr/>
        </p:nvSpPr>
        <p:spPr>
          <a:xfrm>
            <a:off x="8051292" y="2103120"/>
            <a:ext cx="1042415" cy="640080"/>
          </a:xfrm>
          <a:prstGeom prst="rect">
            <a:avLst/>
          </a:prstGeom>
          <a:noFill/>
        </p:spPr>
        <p:txBody>
          <a:bodyPr wrap="square" anchor="t" lIns="45720" rIns="45720" tIns="27432" bIns="27432">
            <a:spAutoFit/>
          </a:bodyPr>
          <a:lstStyle/>
          <a:p>
            <a:pPr algn="ctr">
              <a:lnSpc>
                <a:spcPct val="95000"/>
              </a:lnSpc>
              <a:spcAft>
                <a:spcPts val="0"/>
              </a:spcAft>
            </a:pPr>
            <a:r>
              <a:rPr sz="1100" b="0" i="0">
                <a:solidFill>
                  <a:srgbClr val="94A3B8"/>
                </a:solidFill>
                <a:latin typeface="Calibri"/>
              </a:rPr>
              <a:t>upward spikes</a:t>
            </a:r>
          </a:p>
        </p:txBody>
      </p:sp>
      <p:sp>
        <p:nvSpPr>
          <p:cNvPr id="27" name="Rounded Rectangle 26"/>
          <p:cNvSpPr/>
          <p:nvPr/>
        </p:nvSpPr>
        <p:spPr>
          <a:xfrm>
            <a:off x="9244584" y="1417320"/>
            <a:ext cx="1133856" cy="137160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44584" y="1536192"/>
            <a:ext cx="1133856" cy="548640"/>
          </a:xfrm>
          <a:prstGeom prst="rect">
            <a:avLst/>
          </a:prstGeom>
          <a:noFill/>
        </p:spPr>
        <p:txBody>
          <a:bodyPr wrap="square" anchor="t" lIns="45720" rIns="45720" tIns="27432" bIns="27432">
            <a:spAutoFit/>
          </a:bodyPr>
          <a:lstStyle/>
          <a:p>
            <a:pPr algn="ctr">
              <a:lnSpc>
                <a:spcPct val="110000"/>
              </a:lnSpc>
              <a:spcAft>
                <a:spcPts val="0"/>
              </a:spcAft>
            </a:pPr>
            <a:r>
              <a:rPr sz="2600" b="1" i="0">
                <a:solidFill>
                  <a:srgbClr val="F43F5E"/>
                </a:solidFill>
                <a:latin typeface="Calibri"/>
              </a:rPr>
              <a:t>118</a:t>
            </a:r>
          </a:p>
        </p:txBody>
      </p:sp>
      <p:sp>
        <p:nvSpPr>
          <p:cNvPr id="29" name="TextBox 28"/>
          <p:cNvSpPr txBox="1"/>
          <p:nvPr/>
        </p:nvSpPr>
        <p:spPr>
          <a:xfrm>
            <a:off x="9290304" y="2103120"/>
            <a:ext cx="1042415" cy="640080"/>
          </a:xfrm>
          <a:prstGeom prst="rect">
            <a:avLst/>
          </a:prstGeom>
          <a:noFill/>
        </p:spPr>
        <p:txBody>
          <a:bodyPr wrap="square" anchor="t" lIns="45720" rIns="45720" tIns="27432" bIns="27432">
            <a:spAutoFit/>
          </a:bodyPr>
          <a:lstStyle/>
          <a:p>
            <a:pPr algn="ctr">
              <a:lnSpc>
                <a:spcPct val="95000"/>
              </a:lnSpc>
              <a:spcAft>
                <a:spcPts val="0"/>
              </a:spcAft>
            </a:pPr>
            <a:r>
              <a:rPr sz="1100" b="0" i="0">
                <a:solidFill>
                  <a:srgbClr val="94A3B8"/>
                </a:solidFill>
                <a:latin typeface="Calibri"/>
              </a:rPr>
              <a:t>downward shocks</a:t>
            </a:r>
          </a:p>
        </p:txBody>
      </p:sp>
      <p:sp>
        <p:nvSpPr>
          <p:cNvPr id="30" name="Rounded Rectangle 29"/>
          <p:cNvSpPr/>
          <p:nvPr/>
        </p:nvSpPr>
        <p:spPr>
          <a:xfrm>
            <a:off x="10483596" y="1417320"/>
            <a:ext cx="1133856" cy="137160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83596" y="1536192"/>
            <a:ext cx="1133856" cy="548640"/>
          </a:xfrm>
          <a:prstGeom prst="rect">
            <a:avLst/>
          </a:prstGeom>
          <a:noFill/>
        </p:spPr>
        <p:txBody>
          <a:bodyPr wrap="square" anchor="t" lIns="45720" rIns="45720" tIns="27432" bIns="27432">
            <a:spAutoFit/>
          </a:bodyPr>
          <a:lstStyle/>
          <a:p>
            <a:pPr algn="ctr">
              <a:lnSpc>
                <a:spcPct val="110000"/>
              </a:lnSpc>
              <a:spcAft>
                <a:spcPts val="0"/>
              </a:spcAft>
            </a:pPr>
            <a:r>
              <a:rPr sz="2600" b="1" i="0">
                <a:solidFill>
                  <a:srgbClr val="38BDF8"/>
                </a:solidFill>
                <a:latin typeface="Calibri"/>
              </a:rPr>
              <a:t>20</a:t>
            </a:r>
          </a:p>
        </p:txBody>
      </p:sp>
      <p:sp>
        <p:nvSpPr>
          <p:cNvPr id="32" name="TextBox 31"/>
          <p:cNvSpPr txBox="1"/>
          <p:nvPr/>
        </p:nvSpPr>
        <p:spPr>
          <a:xfrm>
            <a:off x="10529316" y="2103120"/>
            <a:ext cx="1042415" cy="640080"/>
          </a:xfrm>
          <a:prstGeom prst="rect">
            <a:avLst/>
          </a:prstGeom>
          <a:noFill/>
        </p:spPr>
        <p:txBody>
          <a:bodyPr wrap="square" anchor="t" lIns="45720" rIns="45720" tIns="27432" bIns="27432">
            <a:spAutoFit/>
          </a:bodyPr>
          <a:lstStyle/>
          <a:p>
            <a:pPr algn="ctr">
              <a:lnSpc>
                <a:spcPct val="95000"/>
              </a:lnSpc>
              <a:spcAft>
                <a:spcPts val="0"/>
              </a:spcAft>
            </a:pPr>
            <a:r>
              <a:rPr sz="1100" b="0" i="0">
                <a:solidFill>
                  <a:srgbClr val="94A3B8"/>
                </a:solidFill>
                <a:latin typeface="Calibri"/>
              </a:rPr>
              <a:t>volume spikes</a:t>
            </a:r>
          </a:p>
        </p:txBody>
      </p:sp>
      <p:sp>
        <p:nvSpPr>
          <p:cNvPr id="33" name="Rounded Rectangle 32"/>
          <p:cNvSpPr/>
          <p:nvPr/>
        </p:nvSpPr>
        <p:spPr>
          <a:xfrm>
            <a:off x="6766560" y="2971800"/>
            <a:ext cx="4873752" cy="320040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7728" y="3099816"/>
            <a:ext cx="447141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ANOMALIES PER YEAR</a:t>
            </a:r>
          </a:p>
        </p:txBody>
      </p:sp>
      <p:pic>
        <p:nvPicPr>
          <p:cNvPr id="35" name="Picture 34" descr="events_by_year.png"/>
          <p:cNvPicPr>
            <a:picLocks noChangeAspect="1"/>
          </p:cNvPicPr>
          <p:nvPr/>
        </p:nvPicPr>
        <p:blipFill>
          <a:blip r:embed="rId3"/>
          <a:stretch>
            <a:fillRect/>
          </a:stretch>
        </p:blipFill>
        <p:spPr>
          <a:xfrm>
            <a:off x="6858000" y="3574271"/>
            <a:ext cx="4690872" cy="2269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Detected Anomalies Match Real Events</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RESULTS</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12</a:t>
            </a:r>
          </a:p>
        </p:txBody>
      </p:sp>
      <p:sp>
        <p:nvSpPr>
          <p:cNvPr id="7" name="Rounded Rectangle 6"/>
          <p:cNvSpPr/>
          <p:nvPr/>
        </p:nvSpPr>
        <p:spPr>
          <a:xfrm>
            <a:off x="548640" y="1417320"/>
            <a:ext cx="672084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6318503"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GOLD PRICE WITH FLAGGED DAYS (LOG SCALE)</a:t>
            </a:r>
          </a:p>
        </p:txBody>
      </p:sp>
      <p:pic>
        <p:nvPicPr>
          <p:cNvPr id="9" name="Picture 8" descr="price_anomalies.png"/>
          <p:cNvPicPr>
            <a:picLocks noChangeAspect="1"/>
          </p:cNvPicPr>
          <p:nvPr/>
        </p:nvPicPr>
        <p:blipFill>
          <a:blip r:embed="rId3"/>
          <a:stretch>
            <a:fillRect/>
          </a:stretch>
        </p:blipFill>
        <p:spPr>
          <a:xfrm>
            <a:off x="685800" y="1975104"/>
            <a:ext cx="6446519" cy="3867911"/>
          </a:xfrm>
          <a:prstGeom prst="rect">
            <a:avLst/>
          </a:prstGeom>
        </p:spPr>
      </p:pic>
      <p:graphicFrame>
        <p:nvGraphicFramePr>
          <p:cNvPr id="10" name="Table 9"/>
          <p:cNvGraphicFramePr>
            <a:graphicFrameLocks noGrp="1"/>
          </p:cNvGraphicFramePr>
          <p:nvPr/>
        </p:nvGraphicFramePr>
        <p:xfrm>
          <a:off x="7498079" y="1417320"/>
          <a:ext cx="4142231" cy="3401568"/>
        </p:xfrm>
        <a:graphic>
          <a:graphicData uri="http://schemas.openxmlformats.org/drawingml/2006/table">
            <a:tbl>
              <a:tblPr firstRow="1" bandRow="0">
                <a:tableStyleId>{5C22544A-7EE6-4342-B048-85BDC9FD1C3A}</a:tableStyleId>
              </a:tblPr>
              <a:tblGrid>
                <a:gridCol w="1097280"/>
                <a:gridCol w="658368"/>
                <a:gridCol w="548640"/>
                <a:gridCol w="1837943"/>
              </a:tblGrid>
              <a:tr h="566928">
                <a:tc>
                  <a:txBody>
                    <a:bodyPr wrap="square"/>
                    <a:lstStyle/>
                    <a:p>
                      <a:pPr algn="l"/>
                      <a:r>
                        <a:rPr sz="1100" b="1" i="0">
                          <a:solidFill>
                            <a:srgbClr val="14B8A6"/>
                          </a:solidFill>
                          <a:latin typeface="Calibri"/>
                        </a:rPr>
                        <a:t>Date</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10232D"/>
                    </a:solidFill>
                  </a:tcPr>
                </a:tc>
                <a:tc>
                  <a:txBody>
                    <a:bodyPr wrap="square"/>
                    <a:lstStyle/>
                    <a:p>
                      <a:pPr algn="r"/>
                      <a:r>
                        <a:rPr sz="1100" b="1" i="0">
                          <a:solidFill>
                            <a:srgbClr val="14B8A6"/>
                          </a:solidFill>
                          <a:latin typeface="Calibri"/>
                        </a:rPr>
                        <a:t>Move</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10232D"/>
                    </a:solidFill>
                  </a:tcPr>
                </a:tc>
                <a:tc>
                  <a:txBody>
                    <a:bodyPr wrap="square"/>
                    <a:lstStyle/>
                    <a:p>
                      <a:pPr algn="r"/>
                      <a:r>
                        <a:rPr sz="1100" b="1" i="0">
                          <a:solidFill>
                            <a:srgbClr val="14B8A6"/>
                          </a:solidFill>
                          <a:latin typeface="Calibri"/>
                        </a:rPr>
                        <a:t>Z</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10232D"/>
                    </a:solidFill>
                  </a:tcPr>
                </a:tc>
                <a:tc>
                  <a:txBody>
                    <a:bodyPr wrap="square"/>
                    <a:lstStyle/>
                    <a:p>
                      <a:pPr algn="l"/>
                      <a:r>
                        <a:rPr sz="1100" b="1" i="0">
                          <a:solidFill>
                            <a:srgbClr val="14B8A6"/>
                          </a:solidFill>
                          <a:latin typeface="Calibri"/>
                        </a:rPr>
                        <a:t>What happened</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10232D"/>
                    </a:solidFill>
                  </a:tcPr>
                </a:tc>
              </a:tr>
              <a:tr h="566928">
                <a:tc>
                  <a:txBody>
                    <a:bodyPr wrap="square"/>
                    <a:lstStyle/>
                    <a:p>
                      <a:pPr algn="l"/>
                      <a:r>
                        <a:rPr sz="1200" b="0" i="0">
                          <a:solidFill>
                            <a:srgbClr val="F1F5F9"/>
                          </a:solidFill>
                          <a:latin typeface="Calibri"/>
                        </a:rPr>
                        <a:t>14 Sep 2001</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200" b="0" i="0">
                          <a:solidFill>
                            <a:srgbClr val="F1F5F9"/>
                          </a:solidFill>
                          <a:latin typeface="Calibri"/>
                        </a:rPr>
                        <a:t>+6.8%</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200" b="0" i="0">
                          <a:solidFill>
                            <a:srgbClr val="F1F5F9"/>
                          </a:solidFill>
                          <a:latin typeface="Calibri"/>
                        </a:rPr>
                        <a:t>+9.9</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l"/>
                      <a:r>
                        <a:rPr sz="1200" b="0" i="0">
                          <a:solidFill>
                            <a:srgbClr val="F1F5F9"/>
                          </a:solidFill>
                          <a:latin typeface="Calibri"/>
                        </a:rPr>
                        <a:t>Markets reopen after 9/11</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566928">
                <a:tc>
                  <a:txBody>
                    <a:bodyPr wrap="square"/>
                    <a:lstStyle/>
                    <a:p>
                      <a:pPr algn="l"/>
                      <a:r>
                        <a:rPr sz="1200" b="0" i="0">
                          <a:solidFill>
                            <a:srgbClr val="F1F5F9"/>
                          </a:solidFill>
                          <a:latin typeface="Calibri"/>
                        </a:rPr>
                        <a:t>15 Apr 2013</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200" b="0" i="0">
                          <a:solidFill>
                            <a:srgbClr val="F1F5F9"/>
                          </a:solidFill>
                          <a:latin typeface="Calibri"/>
                        </a:rPr>
                        <a:t>-9.4%</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200" b="0" i="0">
                          <a:solidFill>
                            <a:srgbClr val="F1F5F9"/>
                          </a:solidFill>
                          <a:latin typeface="Calibri"/>
                        </a:rPr>
                        <a:t>-9.0</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l"/>
                      <a:r>
                        <a:rPr sz="1200" b="0" i="0">
                          <a:solidFill>
                            <a:srgbClr val="F1F5F9"/>
                          </a:solidFill>
                          <a:latin typeface="Calibri"/>
                        </a:rPr>
                        <a:t>April 2013 gold crash</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566928">
                <a:tc>
                  <a:txBody>
                    <a:bodyPr wrap="square"/>
                    <a:lstStyle/>
                    <a:p>
                      <a:pPr algn="l"/>
                      <a:r>
                        <a:rPr sz="1200" b="0" i="0">
                          <a:solidFill>
                            <a:srgbClr val="F1F5F9"/>
                          </a:solidFill>
                          <a:latin typeface="Calibri"/>
                        </a:rPr>
                        <a:t>24 Jun 2016</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200" b="0" i="0">
                          <a:solidFill>
                            <a:srgbClr val="F1F5F9"/>
                          </a:solidFill>
                          <a:latin typeface="Calibri"/>
                        </a:rPr>
                        <a:t>+4.7%</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200" b="0" i="0">
                          <a:solidFill>
                            <a:srgbClr val="F1F5F9"/>
                          </a:solidFill>
                          <a:latin typeface="Calibri"/>
                        </a:rPr>
                        <a:t>+5.8</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l"/>
                      <a:r>
                        <a:rPr sz="1200" b="0" i="0">
                          <a:solidFill>
                            <a:srgbClr val="F1F5F9"/>
                          </a:solidFill>
                          <a:latin typeface="Calibri"/>
                        </a:rPr>
                        <a:t>Brexit referendum result</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566928">
                <a:tc>
                  <a:txBody>
                    <a:bodyPr wrap="square"/>
                    <a:lstStyle/>
                    <a:p>
                      <a:pPr algn="l"/>
                      <a:r>
                        <a:rPr sz="1200" b="0" i="0">
                          <a:solidFill>
                            <a:srgbClr val="F1F5F9"/>
                          </a:solidFill>
                          <a:latin typeface="Calibri"/>
                        </a:rPr>
                        <a:t>20 Jun 2019</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200" b="0" i="0">
                          <a:solidFill>
                            <a:srgbClr val="F1F5F9"/>
                          </a:solidFill>
                          <a:latin typeface="Calibri"/>
                        </a:rPr>
                        <a:t>+3.6%</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200" b="0" i="0">
                          <a:solidFill>
                            <a:srgbClr val="F1F5F9"/>
                          </a:solidFill>
                          <a:latin typeface="Calibri"/>
                        </a:rPr>
                        <a:t>+5.6</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l"/>
                      <a:r>
                        <a:rPr sz="1200" b="0" i="0">
                          <a:solidFill>
                            <a:srgbClr val="F1F5F9"/>
                          </a:solidFill>
                          <a:latin typeface="Calibri"/>
                        </a:rPr>
                        <a:t>Fed signals rate cuts</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566928">
                <a:tc>
                  <a:txBody>
                    <a:bodyPr wrap="square"/>
                    <a:lstStyle/>
                    <a:p>
                      <a:pPr algn="l"/>
                      <a:r>
                        <a:rPr sz="1200" b="0" i="0">
                          <a:solidFill>
                            <a:srgbClr val="F1F5F9"/>
                          </a:solidFill>
                          <a:latin typeface="Calibri"/>
                        </a:rPr>
                        <a:t>09 Nov 2020</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200" b="0" i="0">
                          <a:solidFill>
                            <a:srgbClr val="F1F5F9"/>
                          </a:solidFill>
                          <a:latin typeface="Calibri"/>
                        </a:rPr>
                        <a:t>-5.0%</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200" b="0" i="0">
                          <a:solidFill>
                            <a:srgbClr val="F1F5F9"/>
                          </a:solidFill>
                          <a:latin typeface="Calibri"/>
                        </a:rPr>
                        <a:t>-5.4</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l"/>
                      <a:r>
                        <a:rPr sz="1200" b="0" i="0">
                          <a:solidFill>
                            <a:srgbClr val="F1F5F9"/>
                          </a:solidFill>
                          <a:latin typeface="Calibri"/>
                        </a:rPr>
                        <a:t>Covid vaccine announced</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bl>
          </a:graphicData>
        </a:graphic>
      </p:graphicFrame>
      <p:sp>
        <p:nvSpPr>
          <p:cNvPr id="11" name="TextBox 10"/>
          <p:cNvSpPr txBox="1"/>
          <p:nvPr/>
        </p:nvSpPr>
        <p:spPr>
          <a:xfrm>
            <a:off x="7498079" y="4983480"/>
            <a:ext cx="4142232" cy="1188720"/>
          </a:xfrm>
          <a:prstGeom prst="rect">
            <a:avLst/>
          </a:prstGeom>
          <a:noFill/>
        </p:spPr>
        <p:txBody>
          <a:bodyPr wrap="square" anchor="t" lIns="45720" rIns="45720" tIns="27432" bIns="27432">
            <a:spAutoFit/>
          </a:bodyPr>
          <a:lstStyle/>
          <a:p>
            <a:pPr algn="l">
              <a:lnSpc>
                <a:spcPct val="110000"/>
              </a:lnSpc>
              <a:spcAft>
                <a:spcPts val="0"/>
              </a:spcAft>
            </a:pPr>
            <a:r>
              <a:rPr sz="1400" b="0" i="0">
                <a:solidFill>
                  <a:srgbClr val="94A3B8"/>
                </a:solidFill>
                <a:latin typeface="Calibri"/>
              </a:rPr>
              <a:t>The detector only sees numbers, yet its strongest flags line up with major news events.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Algorithm 3: Event-Study Backtest</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MEMBER B · BACKTEST</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13</a:t>
            </a:r>
          </a:p>
        </p:txBody>
      </p:sp>
      <p:sp>
        <p:nvSpPr>
          <p:cNvPr id="7" name="Rounded Rectangle 6"/>
          <p:cNvSpPr/>
          <p:nvPr/>
        </p:nvSpPr>
        <p:spPr>
          <a:xfrm>
            <a:off x="1005840" y="1508760"/>
            <a:ext cx="1463040" cy="685800"/>
          </a:xfrm>
          <a:prstGeom prst="roundRect">
            <a:avLst>
              <a:gd name="adj" fmla="val 15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08760"/>
            <a:ext cx="1463040" cy="685800"/>
          </a:xfrm>
          <a:prstGeom prst="rect">
            <a:avLst/>
          </a:prstGeom>
          <a:noFill/>
        </p:spPr>
        <p:txBody>
          <a:bodyPr wrap="square" anchor="ctr" lIns="45720" rIns="45720" tIns="27432" bIns="27432">
            <a:spAutoFit/>
          </a:bodyPr>
          <a:lstStyle/>
          <a:p>
            <a:pPr algn="ctr">
              <a:lnSpc>
                <a:spcPct val="110000"/>
              </a:lnSpc>
              <a:spcAft>
                <a:spcPts val="0"/>
              </a:spcAft>
            </a:pPr>
            <a:r>
              <a:rPr sz="2000" b="1" i="0">
                <a:solidFill>
                  <a:srgbClr val="F1F5F9"/>
                </a:solidFill>
                <a:latin typeface="Calibri"/>
              </a:rPr>
              <a:t>t − 1</a:t>
            </a:r>
          </a:p>
        </p:txBody>
      </p:sp>
      <p:sp>
        <p:nvSpPr>
          <p:cNvPr id="9" name="Right Arrow 8"/>
          <p:cNvSpPr/>
          <p:nvPr/>
        </p:nvSpPr>
        <p:spPr>
          <a:xfrm>
            <a:off x="2606040" y="1719072"/>
            <a:ext cx="411480" cy="274320"/>
          </a:xfrm>
          <a:prstGeom prst="rightArrow">
            <a:avLst/>
          </a:prstGeom>
          <a:solidFill>
            <a:srgbClr val="223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154680" y="1508760"/>
            <a:ext cx="1463040" cy="685800"/>
          </a:xfrm>
          <a:prstGeom prst="roundRect">
            <a:avLst>
              <a:gd name="adj" fmla="val 15000"/>
            </a:avLst>
          </a:prstGeom>
          <a:solidFill>
            <a:srgbClr val="F5BD4F"/>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1508760"/>
            <a:ext cx="1463040" cy="685800"/>
          </a:xfrm>
          <a:prstGeom prst="rect">
            <a:avLst/>
          </a:prstGeom>
          <a:noFill/>
        </p:spPr>
        <p:txBody>
          <a:bodyPr wrap="square" anchor="ctr" lIns="45720" rIns="45720" tIns="27432" bIns="27432">
            <a:spAutoFit/>
          </a:bodyPr>
          <a:lstStyle/>
          <a:p>
            <a:pPr algn="ctr">
              <a:lnSpc>
                <a:spcPct val="110000"/>
              </a:lnSpc>
              <a:spcAft>
                <a:spcPts val="0"/>
              </a:spcAft>
            </a:pPr>
            <a:r>
              <a:rPr sz="2000" b="1" i="0">
                <a:solidFill>
                  <a:srgbClr val="071019"/>
                </a:solidFill>
                <a:latin typeface="Calibri"/>
              </a:rPr>
              <a:t>t</a:t>
            </a:r>
          </a:p>
        </p:txBody>
      </p:sp>
      <p:sp>
        <p:nvSpPr>
          <p:cNvPr id="12" name="Right Arrow 11"/>
          <p:cNvSpPr/>
          <p:nvPr/>
        </p:nvSpPr>
        <p:spPr>
          <a:xfrm>
            <a:off x="4754880" y="1719072"/>
            <a:ext cx="411480" cy="274320"/>
          </a:xfrm>
          <a:prstGeom prst="rightArrow">
            <a:avLst/>
          </a:prstGeom>
          <a:solidFill>
            <a:srgbClr val="223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03520" y="1508760"/>
            <a:ext cx="1463040" cy="685800"/>
          </a:xfrm>
          <a:prstGeom prst="roundRect">
            <a:avLst>
              <a:gd name="adj" fmla="val 15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1508760"/>
            <a:ext cx="1463040" cy="685800"/>
          </a:xfrm>
          <a:prstGeom prst="rect">
            <a:avLst/>
          </a:prstGeom>
          <a:noFill/>
        </p:spPr>
        <p:txBody>
          <a:bodyPr wrap="square" anchor="ctr" lIns="45720" rIns="45720" tIns="27432" bIns="27432">
            <a:spAutoFit/>
          </a:bodyPr>
          <a:lstStyle/>
          <a:p>
            <a:pPr algn="ctr">
              <a:lnSpc>
                <a:spcPct val="110000"/>
              </a:lnSpc>
              <a:spcAft>
                <a:spcPts val="0"/>
              </a:spcAft>
            </a:pPr>
            <a:r>
              <a:rPr sz="2000" b="1" i="0">
                <a:solidFill>
                  <a:srgbClr val="F1F5F9"/>
                </a:solidFill>
                <a:latin typeface="Calibri"/>
              </a:rPr>
              <a:t>t + 1</a:t>
            </a:r>
          </a:p>
        </p:txBody>
      </p:sp>
      <p:sp>
        <p:nvSpPr>
          <p:cNvPr id="15" name="Right Arrow 14"/>
          <p:cNvSpPr/>
          <p:nvPr/>
        </p:nvSpPr>
        <p:spPr>
          <a:xfrm>
            <a:off x="6903720" y="1719072"/>
            <a:ext cx="411480" cy="274320"/>
          </a:xfrm>
          <a:prstGeom prst="rightArrow">
            <a:avLst/>
          </a:prstGeom>
          <a:solidFill>
            <a:srgbClr val="223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52360" y="1508760"/>
            <a:ext cx="1463040" cy="685800"/>
          </a:xfrm>
          <a:prstGeom prst="roundRect">
            <a:avLst>
              <a:gd name="adj" fmla="val 15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0" y="1508760"/>
            <a:ext cx="1463040" cy="685800"/>
          </a:xfrm>
          <a:prstGeom prst="rect">
            <a:avLst/>
          </a:prstGeom>
          <a:noFill/>
        </p:spPr>
        <p:txBody>
          <a:bodyPr wrap="square" anchor="ctr" lIns="45720" rIns="45720" tIns="27432" bIns="27432">
            <a:spAutoFit/>
          </a:bodyPr>
          <a:lstStyle/>
          <a:p>
            <a:pPr algn="ctr">
              <a:lnSpc>
                <a:spcPct val="110000"/>
              </a:lnSpc>
              <a:spcAft>
                <a:spcPts val="0"/>
              </a:spcAft>
            </a:pPr>
            <a:r>
              <a:rPr sz="2000" b="1" i="0">
                <a:solidFill>
                  <a:srgbClr val="94A3B8"/>
                </a:solidFill>
                <a:latin typeface="Calibri"/>
              </a:rPr>
              <a:t>…</a:t>
            </a:r>
          </a:p>
        </p:txBody>
      </p:sp>
      <p:sp>
        <p:nvSpPr>
          <p:cNvPr id="18" name="Right Arrow 17"/>
          <p:cNvSpPr/>
          <p:nvPr/>
        </p:nvSpPr>
        <p:spPr>
          <a:xfrm>
            <a:off x="9052560" y="1719072"/>
            <a:ext cx="411480" cy="274320"/>
          </a:xfrm>
          <a:prstGeom prst="rightArrow">
            <a:avLst/>
          </a:prstGeom>
          <a:solidFill>
            <a:srgbClr val="223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01200" y="1508760"/>
            <a:ext cx="1463040" cy="685800"/>
          </a:xfrm>
          <a:prstGeom prst="roundRect">
            <a:avLst>
              <a:gd name="adj" fmla="val 15000"/>
            </a:avLst>
          </a:prstGeom>
          <a:solidFill>
            <a:srgbClr val="38BDF8"/>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508760"/>
            <a:ext cx="1463040" cy="685800"/>
          </a:xfrm>
          <a:prstGeom prst="rect">
            <a:avLst/>
          </a:prstGeom>
          <a:noFill/>
        </p:spPr>
        <p:txBody>
          <a:bodyPr wrap="square" anchor="ctr" lIns="45720" rIns="45720" tIns="27432" bIns="27432">
            <a:spAutoFit/>
          </a:bodyPr>
          <a:lstStyle/>
          <a:p>
            <a:pPr algn="ctr">
              <a:lnSpc>
                <a:spcPct val="110000"/>
              </a:lnSpc>
              <a:spcAft>
                <a:spcPts val="0"/>
              </a:spcAft>
            </a:pPr>
            <a:r>
              <a:rPr sz="2000" b="1" i="0">
                <a:solidFill>
                  <a:srgbClr val="071019"/>
                </a:solidFill>
                <a:latin typeface="Calibri"/>
              </a:rPr>
              <a:t>t + h</a:t>
            </a:r>
          </a:p>
        </p:txBody>
      </p:sp>
      <p:sp>
        <p:nvSpPr>
          <p:cNvPr id="21" name="TextBox 20"/>
          <p:cNvSpPr txBox="1"/>
          <p:nvPr/>
        </p:nvSpPr>
        <p:spPr>
          <a:xfrm>
            <a:off x="2377440" y="2267712"/>
            <a:ext cx="2926080" cy="640080"/>
          </a:xfrm>
          <a:prstGeom prst="rect">
            <a:avLst/>
          </a:prstGeom>
          <a:noFill/>
        </p:spPr>
        <p:txBody>
          <a:bodyPr wrap="square" anchor="t" lIns="45720" rIns="45720" tIns="27432" bIns="27432">
            <a:spAutoFit/>
          </a:bodyPr>
          <a:lstStyle/>
          <a:p>
            <a:pPr algn="ctr">
              <a:lnSpc>
                <a:spcPct val="110000"/>
              </a:lnSpc>
              <a:spcAft>
                <a:spcPts val="0"/>
              </a:spcAft>
            </a:pPr>
            <a:r>
              <a:rPr sz="1400" b="1" i="0">
                <a:solidFill>
                  <a:srgbClr val="F5BD4F"/>
                </a:solidFill>
                <a:latin typeface="Calibri"/>
              </a:rPr>
              <a:t>Spike day</a:t>
            </a:r>
          </a:p>
          <a:p>
            <a:pPr algn="ctr">
              <a:lnSpc>
                <a:spcPct val="110000"/>
              </a:lnSpc>
              <a:spcAft>
                <a:spcPts val="0"/>
              </a:spcAft>
            </a:pPr>
            <a:r>
              <a:rPr sz="1400" b="0" i="0">
                <a:solidFill>
                  <a:srgbClr val="F1F5F9"/>
                </a:solidFill>
                <a:latin typeface="Calibri"/>
              </a:rPr>
              <a:t>Entry = Close[t]</a:t>
            </a:r>
          </a:p>
        </p:txBody>
      </p:sp>
      <p:sp>
        <p:nvSpPr>
          <p:cNvPr id="22" name="TextBox 21"/>
          <p:cNvSpPr txBox="1"/>
          <p:nvPr/>
        </p:nvSpPr>
        <p:spPr>
          <a:xfrm>
            <a:off x="8823960" y="2267712"/>
            <a:ext cx="2926080" cy="640080"/>
          </a:xfrm>
          <a:prstGeom prst="rect">
            <a:avLst/>
          </a:prstGeom>
          <a:noFill/>
        </p:spPr>
        <p:txBody>
          <a:bodyPr wrap="square" anchor="t" lIns="45720" rIns="45720" tIns="27432" bIns="27432">
            <a:spAutoFit/>
          </a:bodyPr>
          <a:lstStyle/>
          <a:p>
            <a:pPr algn="ctr">
              <a:lnSpc>
                <a:spcPct val="110000"/>
              </a:lnSpc>
              <a:spcAft>
                <a:spcPts val="0"/>
              </a:spcAft>
            </a:pPr>
            <a:r>
              <a:rPr sz="1400" b="1" i="0">
                <a:solidFill>
                  <a:srgbClr val="38BDF8"/>
                </a:solidFill>
                <a:latin typeface="Calibri"/>
              </a:rPr>
              <a:t>h days later</a:t>
            </a:r>
          </a:p>
          <a:p>
            <a:pPr algn="ctr">
              <a:lnSpc>
                <a:spcPct val="110000"/>
              </a:lnSpc>
              <a:spcAft>
                <a:spcPts val="0"/>
              </a:spcAft>
            </a:pPr>
            <a:r>
              <a:rPr sz="1400" b="0" i="0">
                <a:solidFill>
                  <a:srgbClr val="F1F5F9"/>
                </a:solidFill>
                <a:latin typeface="Calibri"/>
              </a:rPr>
              <a:t>Exit = Close[t+h]</a:t>
            </a:r>
          </a:p>
        </p:txBody>
      </p:sp>
      <p:sp>
        <p:nvSpPr>
          <p:cNvPr id="23" name="Rounded Rectangle 22"/>
          <p:cNvSpPr/>
          <p:nvPr/>
        </p:nvSpPr>
        <p:spPr>
          <a:xfrm>
            <a:off x="548640" y="3154680"/>
            <a:ext cx="5989320" cy="301752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3282696"/>
            <a:ext cx="5586983"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ALGORITHM</a:t>
            </a:r>
          </a:p>
        </p:txBody>
      </p:sp>
      <p:sp>
        <p:nvSpPr>
          <p:cNvPr id="25" name="Rounded Rectangle 24"/>
          <p:cNvSpPr/>
          <p:nvPr/>
        </p:nvSpPr>
        <p:spPr>
          <a:xfrm>
            <a:off x="749808" y="3566160"/>
            <a:ext cx="5586984" cy="2423160"/>
          </a:xfrm>
          <a:prstGeom prst="roundRect">
            <a:avLst>
              <a:gd name="adj" fmla="val 4000"/>
            </a:avLst>
          </a:prstGeom>
          <a:solidFill>
            <a:srgbClr val="08131C"/>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3703320"/>
            <a:ext cx="5221224" cy="2148840"/>
          </a:xfrm>
          <a:prstGeom prst="rect">
            <a:avLst/>
          </a:prstGeom>
          <a:noFill/>
        </p:spPr>
        <p:txBody>
          <a:bodyPr wrap="square" anchor="t" lIns="45720" rIns="45720" tIns="27432" bIns="27432">
            <a:spAutoFit/>
          </a:bodyPr>
          <a:lstStyle/>
          <a:p>
            <a:pPr algn="l">
              <a:lnSpc>
                <a:spcPct val="105000"/>
              </a:lnSpc>
              <a:spcAft>
                <a:spcPts val="200"/>
              </a:spcAft>
            </a:pPr>
            <a:r>
              <a:rPr sz="1300" b="0" i="0">
                <a:solidFill>
                  <a:srgbClr val="F1F5F9"/>
                </a:solidFill>
                <a:latin typeface="Consolas"/>
              </a:rPr>
              <a:t>for each upward spike day t:</a:t>
            </a:r>
          </a:p>
          <a:p>
            <a:pPr algn="l">
              <a:lnSpc>
                <a:spcPct val="105000"/>
              </a:lnSpc>
              <a:spcAft>
                <a:spcPts val="200"/>
              </a:spcAft>
            </a:pPr>
            <a:r>
              <a:rPr sz="1300" b="0" i="0">
                <a:solidFill>
                  <a:srgbClr val="F1F5F9"/>
                </a:solidFill>
                <a:latin typeface="Consolas"/>
              </a:rPr>
              <a:t>    fwd      = Close[t+h] / Close[t] - 1</a:t>
            </a:r>
          </a:p>
          <a:p>
            <a:pPr algn="l">
              <a:lnSpc>
                <a:spcPct val="105000"/>
              </a:lnSpc>
              <a:spcAft>
                <a:spcPts val="200"/>
              </a:spcAft>
            </a:pPr>
            <a:r>
              <a:rPr sz="1300" b="0" i="0">
                <a:solidFill>
                  <a:srgbClr val="F1F5F9"/>
                </a:solidFill>
                <a:latin typeface="Consolas"/>
              </a:rPr>
              <a:t>    declined = fwd &lt; 0</a:t>
            </a:r>
          </a:p>
          <a:p>
            <a:pPr algn="l">
              <a:lnSpc>
                <a:spcPct val="105000"/>
              </a:lnSpc>
              <a:spcAft>
                <a:spcPts val="200"/>
              </a:spcAft>
            </a:pPr>
            <a:r>
              <a:rPr sz="1300" b="0" i="0">
                <a:solidFill>
                  <a:srgbClr val="F1F5F9"/>
                </a:solidFill>
                <a:latin typeface="Consolas"/>
              </a:rPr>
              <a:t/>
            </a:r>
          </a:p>
          <a:p>
            <a:pPr algn="l">
              <a:lnSpc>
                <a:spcPct val="105000"/>
              </a:lnSpc>
              <a:spcAft>
                <a:spcPts val="200"/>
              </a:spcAft>
            </a:pPr>
            <a:r>
              <a:rPr sz="1300" b="0" i="0">
                <a:solidFill>
                  <a:srgbClr val="F1F5F9"/>
                </a:solidFill>
                <a:latin typeface="Consolas"/>
              </a:rPr>
              <a:t>decline_rate  = mean(declined)   </a:t>
            </a:r>
            <a:r>
              <a:rPr sz="1300" b="0" i="0">
                <a:solidFill>
                  <a:srgbClr val="64748B"/>
                </a:solidFill>
                <a:latin typeface="Consolas"/>
              </a:rPr>
              <a:t># spikes</a:t>
            </a:r>
          </a:p>
          <a:p>
            <a:pPr algn="l">
              <a:lnSpc>
                <a:spcPct val="105000"/>
              </a:lnSpc>
              <a:spcAft>
                <a:spcPts val="200"/>
              </a:spcAft>
            </a:pPr>
            <a:r>
              <a:rPr sz="1300" b="0" i="0">
                <a:solidFill>
                  <a:srgbClr val="F1F5F9"/>
                </a:solidFill>
                <a:latin typeface="Consolas"/>
              </a:rPr>
              <a:t>baseline_rate = mean(fwd &lt; 0)    </a:t>
            </a:r>
            <a:r>
              <a:rPr sz="1300" b="0" i="0">
                <a:solidFill>
                  <a:srgbClr val="64748B"/>
                </a:solidFill>
                <a:latin typeface="Consolas"/>
              </a:rPr>
              <a:t># all days</a:t>
            </a:r>
          </a:p>
          <a:p>
            <a:pPr algn="l">
              <a:lnSpc>
                <a:spcPct val="105000"/>
              </a:lnSpc>
              <a:spcAft>
                <a:spcPts val="200"/>
              </a:spcAft>
            </a:pPr>
            <a:r>
              <a:rPr sz="1300" b="0" i="0">
                <a:solidFill>
                  <a:srgbClr val="F1F5F9"/>
                </a:solidFill>
                <a:latin typeface="Consolas"/>
              </a:rPr>
              <a:t>lift          = decline_rate - baseline_rate</a:t>
            </a:r>
          </a:p>
        </p:txBody>
      </p:sp>
      <p:sp>
        <p:nvSpPr>
          <p:cNvPr id="27" name="Rounded Rectangle 26"/>
          <p:cNvSpPr/>
          <p:nvPr/>
        </p:nvSpPr>
        <p:spPr>
          <a:xfrm>
            <a:off x="6766560" y="3154680"/>
            <a:ext cx="4873752" cy="301752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7728" y="3282696"/>
            <a:ext cx="447141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F5BD4F"/>
                </a:solidFill>
                <a:latin typeface="Calibri"/>
              </a:rPr>
              <a:t>WHY COMPARE WITH A BASELINE?</a:t>
            </a:r>
          </a:p>
        </p:txBody>
      </p:sp>
      <p:sp>
        <p:nvSpPr>
          <p:cNvPr id="29" name="TextBox 28"/>
          <p:cNvSpPr txBox="1"/>
          <p:nvPr/>
        </p:nvSpPr>
        <p:spPr>
          <a:xfrm>
            <a:off x="6967728" y="3566160"/>
            <a:ext cx="4480560" cy="2560320"/>
          </a:xfrm>
          <a:prstGeom prst="rect">
            <a:avLst/>
          </a:prstGeom>
          <a:noFill/>
        </p:spPr>
        <p:txBody>
          <a:bodyPr wrap="square" anchor="t" lIns="45720" rIns="45720" tIns="27432" bIns="27432">
            <a:spAutoFit/>
          </a:bodyPr>
          <a:lstStyle/>
          <a:p>
            <a:pPr algn="l" marL="256032" indent="-256032">
              <a:lnSpc>
                <a:spcPct val="110000"/>
              </a:lnSpc>
              <a:spcAft>
                <a:spcPts val="600"/>
              </a:spcAft>
              <a:buClr>
                <a:srgbClr val="F5BD4F"/>
              </a:buClr>
              <a:buChar char="•"/>
            </a:pPr>
            <a:r>
              <a:rPr sz="1400" b="0" i="0">
                <a:solidFill>
                  <a:srgbClr val="F1F5F9"/>
                </a:solidFill>
                <a:latin typeface="Calibri"/>
              </a:rPr>
              <a:t>Gold falls over 5 days about 44% of the time anyway.</a:t>
            </a:r>
          </a:p>
          <a:p>
            <a:pPr algn="l" marL="256032" indent="-256032">
              <a:lnSpc>
                <a:spcPct val="110000"/>
              </a:lnSpc>
              <a:spcAft>
                <a:spcPts val="600"/>
              </a:spcAft>
              <a:buClr>
                <a:srgbClr val="F5BD4F"/>
              </a:buClr>
              <a:buChar char="•"/>
            </a:pPr>
            <a:r>
              <a:rPr sz="1400" b="0" i="0">
                <a:solidFill>
                  <a:srgbClr val="F1F5F9"/>
                </a:solidFill>
                <a:latin typeface="Calibri"/>
              </a:rPr>
              <a:t>So “45% of spikes were followed by a drop” means nothing on its own.</a:t>
            </a:r>
          </a:p>
          <a:p>
            <a:pPr algn="l" marL="256032" indent="-256032">
              <a:lnSpc>
                <a:spcPct val="110000"/>
              </a:lnSpc>
              <a:spcAft>
                <a:spcPts val="600"/>
              </a:spcAft>
              <a:buClr>
                <a:srgbClr val="F5BD4F"/>
              </a:buClr>
              <a:buChar char="•"/>
            </a:pPr>
            <a:r>
              <a:rPr sz="1400" b="1" i="0">
                <a:solidFill>
                  <a:srgbClr val="F5BD4F"/>
                </a:solidFill>
                <a:latin typeface="Calibri"/>
              </a:rPr>
              <a:t>Only the lift </a:t>
            </a:r>
            <a:r>
              <a:rPr sz="1400" b="0" i="0">
                <a:solidFill>
                  <a:srgbClr val="F1F5F9"/>
                </a:solidFill>
                <a:latin typeface="Calibri"/>
              </a:rPr>
              <a:t>over the baseline shows a real effect.</a:t>
            </a:r>
          </a:p>
          <a:p>
            <a:pPr algn="l" marL="256032" indent="-256032">
              <a:lnSpc>
                <a:spcPct val="110000"/>
              </a:lnSpc>
              <a:spcAft>
                <a:spcPts val="600"/>
              </a:spcAft>
              <a:buClr>
                <a:srgbClr val="F5BD4F"/>
              </a:buClr>
              <a:buChar char="•"/>
            </a:pPr>
            <a:r>
              <a:rPr sz="1400" b="0" i="0">
                <a:solidFill>
                  <a:srgbClr val="F1F5F9"/>
                </a:solidFill>
                <a:latin typeface="Calibri"/>
              </a:rPr>
              <a:t>Horizons tested: h = 1, 5, 10, 20 days.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Algorithm 4: One-Proportion Z-test</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MEMBER B · BACKTEST</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14</a:t>
            </a:r>
          </a:p>
        </p:txBody>
      </p:sp>
      <p:sp>
        <p:nvSpPr>
          <p:cNvPr id="7" name="Rounded Rectangle 6"/>
          <p:cNvSpPr/>
          <p:nvPr/>
        </p:nvSpPr>
        <p:spPr>
          <a:xfrm>
            <a:off x="548640" y="1417320"/>
            <a:ext cx="5486400" cy="105156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508406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94A3B8"/>
                </a:solidFill>
                <a:latin typeface="Calibri"/>
              </a:rPr>
              <a:t>H0  (NULL HYPOTHESIS)</a:t>
            </a:r>
          </a:p>
        </p:txBody>
      </p:sp>
      <p:sp>
        <p:nvSpPr>
          <p:cNvPr id="9" name="TextBox 8"/>
          <p:cNvSpPr txBox="1"/>
          <p:nvPr/>
        </p:nvSpPr>
        <p:spPr>
          <a:xfrm>
            <a:off x="749808" y="1783080"/>
            <a:ext cx="5120640" cy="640080"/>
          </a:xfrm>
          <a:prstGeom prst="rect">
            <a:avLst/>
          </a:prstGeom>
          <a:noFill/>
        </p:spPr>
        <p:txBody>
          <a:bodyPr wrap="square" anchor="t" lIns="45720" rIns="45720" tIns="27432" bIns="27432">
            <a:spAutoFit/>
          </a:bodyPr>
          <a:lstStyle/>
          <a:p>
            <a:pPr algn="l">
              <a:lnSpc>
                <a:spcPct val="110000"/>
              </a:lnSpc>
              <a:spcAft>
                <a:spcPts val="0"/>
              </a:spcAft>
            </a:pPr>
            <a:r>
              <a:rPr sz="1500" b="0" i="0">
                <a:solidFill>
                  <a:srgbClr val="F1F5F9"/>
                </a:solidFill>
                <a:latin typeface="Calibri"/>
              </a:rPr>
              <a:t>Spikes are followed by drops no more often than a normal day</a:t>
            </a:r>
          </a:p>
        </p:txBody>
      </p:sp>
      <p:sp>
        <p:nvSpPr>
          <p:cNvPr id="10" name="Rounded Rectangle 9"/>
          <p:cNvSpPr/>
          <p:nvPr/>
        </p:nvSpPr>
        <p:spPr>
          <a:xfrm>
            <a:off x="548640" y="2606040"/>
            <a:ext cx="5486400" cy="105156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34056"/>
            <a:ext cx="508406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F5BD4F"/>
                </a:solidFill>
                <a:latin typeface="Calibri"/>
              </a:rPr>
              <a:t>H1  (ALTERNATIVE)</a:t>
            </a:r>
          </a:p>
        </p:txBody>
      </p:sp>
      <p:sp>
        <p:nvSpPr>
          <p:cNvPr id="12" name="TextBox 11"/>
          <p:cNvSpPr txBox="1"/>
          <p:nvPr/>
        </p:nvSpPr>
        <p:spPr>
          <a:xfrm>
            <a:off x="749808" y="2971800"/>
            <a:ext cx="5120640" cy="640080"/>
          </a:xfrm>
          <a:prstGeom prst="rect">
            <a:avLst/>
          </a:prstGeom>
          <a:noFill/>
        </p:spPr>
        <p:txBody>
          <a:bodyPr wrap="square" anchor="t" lIns="45720" rIns="45720" tIns="27432" bIns="27432">
            <a:spAutoFit/>
          </a:bodyPr>
          <a:lstStyle/>
          <a:p>
            <a:pPr algn="l">
              <a:lnSpc>
                <a:spcPct val="110000"/>
              </a:lnSpc>
              <a:spcAft>
                <a:spcPts val="0"/>
              </a:spcAft>
            </a:pPr>
            <a:r>
              <a:rPr sz="1500" b="0" i="0">
                <a:solidFill>
                  <a:srgbClr val="F1F5F9"/>
                </a:solidFill>
                <a:latin typeface="Calibri"/>
              </a:rPr>
              <a:t>Spikes are followed by drops MORE often</a:t>
            </a:r>
          </a:p>
        </p:txBody>
      </p:sp>
      <p:sp>
        <p:nvSpPr>
          <p:cNvPr id="13" name="Rounded Rectangle 12"/>
          <p:cNvSpPr/>
          <p:nvPr/>
        </p:nvSpPr>
        <p:spPr>
          <a:xfrm>
            <a:off x="548640" y="3794760"/>
            <a:ext cx="5486400" cy="237744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922776"/>
            <a:ext cx="508406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TEST STATISTIC</a:t>
            </a:r>
          </a:p>
        </p:txBody>
      </p:sp>
      <p:sp>
        <p:nvSpPr>
          <p:cNvPr id="15" name="TextBox 14"/>
          <p:cNvSpPr txBox="1"/>
          <p:nvPr/>
        </p:nvSpPr>
        <p:spPr>
          <a:xfrm>
            <a:off x="749808" y="4206240"/>
            <a:ext cx="5120640" cy="1280160"/>
          </a:xfrm>
          <a:prstGeom prst="rect">
            <a:avLst/>
          </a:prstGeom>
          <a:noFill/>
        </p:spPr>
        <p:txBody>
          <a:bodyPr wrap="square" anchor="t" lIns="45720" rIns="45720" tIns="27432" bIns="27432">
            <a:spAutoFit/>
          </a:bodyPr>
          <a:lstStyle/>
          <a:p>
            <a:pPr algn="l">
              <a:lnSpc>
                <a:spcPct val="110000"/>
              </a:lnSpc>
              <a:spcAft>
                <a:spcPts val="400"/>
              </a:spcAft>
            </a:pPr>
            <a:r>
              <a:rPr sz="1700" b="0" i="0">
                <a:solidFill>
                  <a:srgbClr val="F5BD4F"/>
                </a:solidFill>
                <a:latin typeface="Consolas"/>
              </a:rPr>
              <a:t>z = (p_spike − p_base) / SE</a:t>
            </a:r>
          </a:p>
          <a:p>
            <a:pPr algn="l">
              <a:lnSpc>
                <a:spcPct val="110000"/>
              </a:lnSpc>
              <a:spcAft>
                <a:spcPts val="400"/>
              </a:spcAft>
            </a:pPr>
            <a:r>
              <a:rPr sz="1700" b="0" i="0">
                <a:solidFill>
                  <a:srgbClr val="F5BD4F"/>
                </a:solidFill>
                <a:latin typeface="Consolas"/>
              </a:rPr>
              <a:t>SE = √( p_base(1 − p_base) / n )</a:t>
            </a:r>
          </a:p>
          <a:p>
            <a:pPr algn="l">
              <a:lnSpc>
                <a:spcPct val="110000"/>
              </a:lnSpc>
              <a:spcAft>
                <a:spcPts val="400"/>
              </a:spcAft>
            </a:pPr>
            <a:r>
              <a:rPr sz="1700" b="0" i="0">
                <a:solidFill>
                  <a:srgbClr val="F5BD4F"/>
                </a:solidFill>
                <a:latin typeface="Consolas"/>
              </a:rPr>
              <a:t>p-value = 1 − Φ(z)</a:t>
            </a:r>
          </a:p>
        </p:txBody>
      </p:sp>
      <p:sp>
        <p:nvSpPr>
          <p:cNvPr id="16" name="TextBox 15"/>
          <p:cNvSpPr txBox="1"/>
          <p:nvPr/>
        </p:nvSpPr>
        <p:spPr>
          <a:xfrm>
            <a:off x="749808" y="5349240"/>
            <a:ext cx="5120640" cy="73152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p_spike = decline rate after spikes, p_base = baseline, n = number of spikes, Φ = normal CDF. Reject H0 if p &lt; 0.05.</a:t>
            </a:r>
          </a:p>
        </p:txBody>
      </p:sp>
      <p:sp>
        <p:nvSpPr>
          <p:cNvPr id="17" name="Rounded Rectangle 16"/>
          <p:cNvSpPr/>
          <p:nvPr/>
        </p:nvSpPr>
        <p:spPr>
          <a:xfrm>
            <a:off x="6263640" y="1417320"/>
            <a:ext cx="5376672" cy="4754880"/>
          </a:xfrm>
          <a:prstGeom prst="roundRect">
            <a:avLst>
              <a:gd name="adj" fmla="val 6000"/>
            </a:avLst>
          </a:prstGeom>
          <a:solidFill>
            <a:srgbClr val="0B1722"/>
          </a:solidFill>
          <a:ln w="12700">
            <a:solidFill>
              <a:srgbClr val="F5B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7" y="1545336"/>
            <a:ext cx="497433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F5BD4F"/>
                </a:solidFill>
                <a:latin typeface="Calibri"/>
              </a:rPr>
              <a:t>WORKED EXAMPLE: 20-DAY HORIZON</a:t>
            </a:r>
          </a:p>
        </p:txBody>
      </p:sp>
      <p:sp>
        <p:nvSpPr>
          <p:cNvPr id="19" name="TextBox 18"/>
          <p:cNvSpPr txBox="1"/>
          <p:nvPr/>
        </p:nvSpPr>
        <p:spPr>
          <a:xfrm>
            <a:off x="6464808" y="1874519"/>
            <a:ext cx="1051560" cy="457200"/>
          </a:xfrm>
          <a:prstGeom prst="rect">
            <a:avLst/>
          </a:prstGeom>
          <a:noFill/>
        </p:spPr>
        <p:txBody>
          <a:bodyPr wrap="square" anchor="t" lIns="45720" rIns="45720" tIns="27432" bIns="27432">
            <a:spAutoFit/>
          </a:bodyPr>
          <a:lstStyle/>
          <a:p>
            <a:pPr algn="l">
              <a:lnSpc>
                <a:spcPct val="110000"/>
              </a:lnSpc>
              <a:spcAft>
                <a:spcPts val="0"/>
              </a:spcAft>
            </a:pPr>
            <a:r>
              <a:rPr sz="1500" b="1" i="0">
                <a:solidFill>
                  <a:srgbClr val="14B8A6"/>
                </a:solidFill>
                <a:latin typeface="Consolas"/>
              </a:rPr>
              <a:t>n</a:t>
            </a:r>
          </a:p>
        </p:txBody>
      </p:sp>
      <p:sp>
        <p:nvSpPr>
          <p:cNvPr id="20" name="TextBox 19"/>
          <p:cNvSpPr txBox="1"/>
          <p:nvPr/>
        </p:nvSpPr>
        <p:spPr>
          <a:xfrm>
            <a:off x="7516368" y="1874519"/>
            <a:ext cx="4023360" cy="457200"/>
          </a:xfrm>
          <a:prstGeom prst="rect">
            <a:avLst/>
          </a:prstGeom>
          <a:noFill/>
        </p:spPr>
        <p:txBody>
          <a:bodyPr wrap="square" anchor="t" lIns="45720" rIns="45720" tIns="27432" bIns="27432">
            <a:spAutoFit/>
          </a:bodyPr>
          <a:lstStyle/>
          <a:p>
            <a:pPr algn="l">
              <a:lnSpc>
                <a:spcPct val="110000"/>
              </a:lnSpc>
              <a:spcAft>
                <a:spcPts val="0"/>
              </a:spcAft>
            </a:pPr>
            <a:r>
              <a:rPr sz="1500" b="0" i="0">
                <a:solidFill>
                  <a:srgbClr val="F1F5F9"/>
                </a:solidFill>
                <a:latin typeface="Consolas"/>
              </a:rPr>
              <a:t>101 spikes, 55 declined</a:t>
            </a:r>
          </a:p>
        </p:txBody>
      </p:sp>
      <p:sp>
        <p:nvSpPr>
          <p:cNvPr id="21" name="TextBox 20"/>
          <p:cNvSpPr txBox="1"/>
          <p:nvPr/>
        </p:nvSpPr>
        <p:spPr>
          <a:xfrm>
            <a:off x="6464808" y="2423160"/>
            <a:ext cx="1051560" cy="457200"/>
          </a:xfrm>
          <a:prstGeom prst="rect">
            <a:avLst/>
          </a:prstGeom>
          <a:noFill/>
        </p:spPr>
        <p:txBody>
          <a:bodyPr wrap="square" anchor="t" lIns="45720" rIns="45720" tIns="27432" bIns="27432">
            <a:spAutoFit/>
          </a:bodyPr>
          <a:lstStyle/>
          <a:p>
            <a:pPr algn="l">
              <a:lnSpc>
                <a:spcPct val="110000"/>
              </a:lnSpc>
              <a:spcAft>
                <a:spcPts val="0"/>
              </a:spcAft>
            </a:pPr>
            <a:r>
              <a:rPr sz="1500" b="1" i="0">
                <a:solidFill>
                  <a:srgbClr val="14B8A6"/>
                </a:solidFill>
                <a:latin typeface="Consolas"/>
              </a:rPr>
              <a:t>p_spike</a:t>
            </a:r>
          </a:p>
        </p:txBody>
      </p:sp>
      <p:sp>
        <p:nvSpPr>
          <p:cNvPr id="22" name="TextBox 21"/>
          <p:cNvSpPr txBox="1"/>
          <p:nvPr/>
        </p:nvSpPr>
        <p:spPr>
          <a:xfrm>
            <a:off x="7516368" y="2423160"/>
            <a:ext cx="4023360" cy="457200"/>
          </a:xfrm>
          <a:prstGeom prst="rect">
            <a:avLst/>
          </a:prstGeom>
          <a:noFill/>
        </p:spPr>
        <p:txBody>
          <a:bodyPr wrap="square" anchor="t" lIns="45720" rIns="45720" tIns="27432" bIns="27432">
            <a:spAutoFit/>
          </a:bodyPr>
          <a:lstStyle/>
          <a:p>
            <a:pPr algn="l">
              <a:lnSpc>
                <a:spcPct val="110000"/>
              </a:lnSpc>
              <a:spcAft>
                <a:spcPts val="0"/>
              </a:spcAft>
            </a:pPr>
            <a:r>
              <a:rPr sz="1500" b="0" i="0">
                <a:solidFill>
                  <a:srgbClr val="F1F5F9"/>
                </a:solidFill>
                <a:latin typeface="Consolas"/>
              </a:rPr>
              <a:t>55 / 101 = 0.545</a:t>
            </a:r>
          </a:p>
        </p:txBody>
      </p:sp>
      <p:sp>
        <p:nvSpPr>
          <p:cNvPr id="23" name="TextBox 22"/>
          <p:cNvSpPr txBox="1"/>
          <p:nvPr/>
        </p:nvSpPr>
        <p:spPr>
          <a:xfrm>
            <a:off x="6464808" y="2971800"/>
            <a:ext cx="1051560" cy="457200"/>
          </a:xfrm>
          <a:prstGeom prst="rect">
            <a:avLst/>
          </a:prstGeom>
          <a:noFill/>
        </p:spPr>
        <p:txBody>
          <a:bodyPr wrap="square" anchor="t" lIns="45720" rIns="45720" tIns="27432" bIns="27432">
            <a:spAutoFit/>
          </a:bodyPr>
          <a:lstStyle/>
          <a:p>
            <a:pPr algn="l">
              <a:lnSpc>
                <a:spcPct val="110000"/>
              </a:lnSpc>
              <a:spcAft>
                <a:spcPts val="0"/>
              </a:spcAft>
            </a:pPr>
            <a:r>
              <a:rPr sz="1500" b="1" i="0">
                <a:solidFill>
                  <a:srgbClr val="14B8A6"/>
                </a:solidFill>
                <a:latin typeface="Consolas"/>
              </a:rPr>
              <a:t>p_base</a:t>
            </a:r>
          </a:p>
        </p:txBody>
      </p:sp>
      <p:sp>
        <p:nvSpPr>
          <p:cNvPr id="24" name="TextBox 23"/>
          <p:cNvSpPr txBox="1"/>
          <p:nvPr/>
        </p:nvSpPr>
        <p:spPr>
          <a:xfrm>
            <a:off x="7516368" y="2971800"/>
            <a:ext cx="4023360" cy="457200"/>
          </a:xfrm>
          <a:prstGeom prst="rect">
            <a:avLst/>
          </a:prstGeom>
          <a:noFill/>
        </p:spPr>
        <p:txBody>
          <a:bodyPr wrap="square" anchor="t" lIns="45720" rIns="45720" tIns="27432" bIns="27432">
            <a:spAutoFit/>
          </a:bodyPr>
          <a:lstStyle/>
          <a:p>
            <a:pPr algn="l">
              <a:lnSpc>
                <a:spcPct val="110000"/>
              </a:lnSpc>
              <a:spcAft>
                <a:spcPts val="0"/>
              </a:spcAft>
            </a:pPr>
            <a:r>
              <a:rPr sz="1500" b="0" i="0">
                <a:solidFill>
                  <a:srgbClr val="F1F5F9"/>
                </a:solidFill>
                <a:latin typeface="Consolas"/>
              </a:rPr>
              <a:t>baseline = 0.430</a:t>
            </a:r>
          </a:p>
        </p:txBody>
      </p:sp>
      <p:sp>
        <p:nvSpPr>
          <p:cNvPr id="25" name="TextBox 24"/>
          <p:cNvSpPr txBox="1"/>
          <p:nvPr/>
        </p:nvSpPr>
        <p:spPr>
          <a:xfrm>
            <a:off x="6464808" y="3520439"/>
            <a:ext cx="1051560" cy="457200"/>
          </a:xfrm>
          <a:prstGeom prst="rect">
            <a:avLst/>
          </a:prstGeom>
          <a:noFill/>
        </p:spPr>
        <p:txBody>
          <a:bodyPr wrap="square" anchor="t" lIns="45720" rIns="45720" tIns="27432" bIns="27432">
            <a:spAutoFit/>
          </a:bodyPr>
          <a:lstStyle/>
          <a:p>
            <a:pPr algn="l">
              <a:lnSpc>
                <a:spcPct val="110000"/>
              </a:lnSpc>
              <a:spcAft>
                <a:spcPts val="0"/>
              </a:spcAft>
            </a:pPr>
            <a:r>
              <a:rPr sz="1500" b="1" i="0">
                <a:solidFill>
                  <a:srgbClr val="14B8A6"/>
                </a:solidFill>
                <a:latin typeface="Consolas"/>
              </a:rPr>
              <a:t>SE</a:t>
            </a:r>
          </a:p>
        </p:txBody>
      </p:sp>
      <p:sp>
        <p:nvSpPr>
          <p:cNvPr id="26" name="TextBox 25"/>
          <p:cNvSpPr txBox="1"/>
          <p:nvPr/>
        </p:nvSpPr>
        <p:spPr>
          <a:xfrm>
            <a:off x="7516368" y="3520439"/>
            <a:ext cx="4023360" cy="457200"/>
          </a:xfrm>
          <a:prstGeom prst="rect">
            <a:avLst/>
          </a:prstGeom>
          <a:noFill/>
        </p:spPr>
        <p:txBody>
          <a:bodyPr wrap="square" anchor="t" lIns="45720" rIns="45720" tIns="27432" bIns="27432">
            <a:spAutoFit/>
          </a:bodyPr>
          <a:lstStyle/>
          <a:p>
            <a:pPr algn="l">
              <a:lnSpc>
                <a:spcPct val="110000"/>
              </a:lnSpc>
              <a:spcAft>
                <a:spcPts val="0"/>
              </a:spcAft>
            </a:pPr>
            <a:r>
              <a:rPr sz="1500" b="0" i="0">
                <a:solidFill>
                  <a:srgbClr val="F1F5F9"/>
                </a:solidFill>
                <a:latin typeface="Consolas"/>
              </a:rPr>
              <a:t>√(0.430 × 0.570 / 101) = 0.0493</a:t>
            </a:r>
          </a:p>
        </p:txBody>
      </p:sp>
      <p:sp>
        <p:nvSpPr>
          <p:cNvPr id="27" name="TextBox 26"/>
          <p:cNvSpPr txBox="1"/>
          <p:nvPr/>
        </p:nvSpPr>
        <p:spPr>
          <a:xfrm>
            <a:off x="6464808" y="4069079"/>
            <a:ext cx="1051560" cy="457200"/>
          </a:xfrm>
          <a:prstGeom prst="rect">
            <a:avLst/>
          </a:prstGeom>
          <a:noFill/>
        </p:spPr>
        <p:txBody>
          <a:bodyPr wrap="square" anchor="t" lIns="45720" rIns="45720" tIns="27432" bIns="27432">
            <a:spAutoFit/>
          </a:bodyPr>
          <a:lstStyle/>
          <a:p>
            <a:pPr algn="l">
              <a:lnSpc>
                <a:spcPct val="110000"/>
              </a:lnSpc>
              <a:spcAft>
                <a:spcPts val="0"/>
              </a:spcAft>
            </a:pPr>
            <a:r>
              <a:rPr sz="1500" b="1" i="0">
                <a:solidFill>
                  <a:srgbClr val="14B8A6"/>
                </a:solidFill>
                <a:latin typeface="Consolas"/>
              </a:rPr>
              <a:t>z</a:t>
            </a:r>
          </a:p>
        </p:txBody>
      </p:sp>
      <p:sp>
        <p:nvSpPr>
          <p:cNvPr id="28" name="TextBox 27"/>
          <p:cNvSpPr txBox="1"/>
          <p:nvPr/>
        </p:nvSpPr>
        <p:spPr>
          <a:xfrm>
            <a:off x="7516368" y="4069079"/>
            <a:ext cx="4023360" cy="457200"/>
          </a:xfrm>
          <a:prstGeom prst="rect">
            <a:avLst/>
          </a:prstGeom>
          <a:noFill/>
        </p:spPr>
        <p:txBody>
          <a:bodyPr wrap="square" anchor="t" lIns="45720" rIns="45720" tIns="27432" bIns="27432">
            <a:spAutoFit/>
          </a:bodyPr>
          <a:lstStyle/>
          <a:p>
            <a:pPr algn="l">
              <a:lnSpc>
                <a:spcPct val="110000"/>
              </a:lnSpc>
              <a:spcAft>
                <a:spcPts val="0"/>
              </a:spcAft>
            </a:pPr>
            <a:r>
              <a:rPr sz="1500" b="0" i="0">
                <a:solidFill>
                  <a:srgbClr val="F1F5F9"/>
                </a:solidFill>
                <a:latin typeface="Consolas"/>
              </a:rPr>
              <a:t>(0.545 − 0.430) / 0.0493 = 2.32</a:t>
            </a:r>
          </a:p>
        </p:txBody>
      </p:sp>
      <p:sp>
        <p:nvSpPr>
          <p:cNvPr id="29" name="TextBox 28"/>
          <p:cNvSpPr txBox="1"/>
          <p:nvPr/>
        </p:nvSpPr>
        <p:spPr>
          <a:xfrm>
            <a:off x="6464808" y="4617720"/>
            <a:ext cx="1051560" cy="457200"/>
          </a:xfrm>
          <a:prstGeom prst="rect">
            <a:avLst/>
          </a:prstGeom>
          <a:noFill/>
        </p:spPr>
        <p:txBody>
          <a:bodyPr wrap="square" anchor="t" lIns="45720" rIns="45720" tIns="27432" bIns="27432">
            <a:spAutoFit/>
          </a:bodyPr>
          <a:lstStyle/>
          <a:p>
            <a:pPr algn="l">
              <a:lnSpc>
                <a:spcPct val="110000"/>
              </a:lnSpc>
              <a:spcAft>
                <a:spcPts val="0"/>
              </a:spcAft>
            </a:pPr>
            <a:r>
              <a:rPr sz="1500" b="1" i="0">
                <a:solidFill>
                  <a:srgbClr val="14B8A6"/>
                </a:solidFill>
                <a:latin typeface="Consolas"/>
              </a:rPr>
              <a:t>p</a:t>
            </a:r>
          </a:p>
        </p:txBody>
      </p:sp>
      <p:sp>
        <p:nvSpPr>
          <p:cNvPr id="30" name="TextBox 29"/>
          <p:cNvSpPr txBox="1"/>
          <p:nvPr/>
        </p:nvSpPr>
        <p:spPr>
          <a:xfrm>
            <a:off x="7516368" y="4617720"/>
            <a:ext cx="4023360" cy="457200"/>
          </a:xfrm>
          <a:prstGeom prst="rect">
            <a:avLst/>
          </a:prstGeom>
          <a:noFill/>
        </p:spPr>
        <p:txBody>
          <a:bodyPr wrap="square" anchor="t" lIns="45720" rIns="45720" tIns="27432" bIns="27432">
            <a:spAutoFit/>
          </a:bodyPr>
          <a:lstStyle/>
          <a:p>
            <a:pPr algn="l">
              <a:lnSpc>
                <a:spcPct val="110000"/>
              </a:lnSpc>
              <a:spcAft>
                <a:spcPts val="0"/>
              </a:spcAft>
            </a:pPr>
            <a:r>
              <a:rPr sz="1500" b="0" i="0">
                <a:solidFill>
                  <a:srgbClr val="F1F5F9"/>
                </a:solidFill>
                <a:latin typeface="Consolas"/>
              </a:rPr>
              <a:t>1 − Φ(2.32) = 0.010</a:t>
            </a:r>
          </a:p>
        </p:txBody>
      </p:sp>
      <p:sp>
        <p:nvSpPr>
          <p:cNvPr id="31" name="Rounded Rectangle 30"/>
          <p:cNvSpPr/>
          <p:nvPr/>
        </p:nvSpPr>
        <p:spPr>
          <a:xfrm>
            <a:off x="6464808" y="5257800"/>
            <a:ext cx="4974336" cy="685800"/>
          </a:xfrm>
          <a:prstGeom prst="roundRect">
            <a:avLst>
              <a:gd name="adj" fmla="val 12000"/>
            </a:avLst>
          </a:prstGeom>
          <a:solidFill>
            <a:srgbClr val="10232D"/>
          </a:solidFill>
          <a:ln w="12700">
            <a:solidFill>
              <a:srgbClr val="F5B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4808" y="5257800"/>
            <a:ext cx="4974336" cy="685800"/>
          </a:xfrm>
          <a:prstGeom prst="rect">
            <a:avLst/>
          </a:prstGeom>
          <a:noFill/>
        </p:spPr>
        <p:txBody>
          <a:bodyPr wrap="square" anchor="ctr" lIns="45720" rIns="45720" tIns="27432" bIns="27432">
            <a:spAutoFit/>
          </a:bodyPr>
          <a:lstStyle/>
          <a:p>
            <a:pPr algn="ctr">
              <a:lnSpc>
                <a:spcPct val="110000"/>
              </a:lnSpc>
              <a:spcAft>
                <a:spcPts val="0"/>
              </a:spcAft>
            </a:pPr>
            <a:r>
              <a:rPr sz="1800" b="1" i="0">
                <a:solidFill>
                  <a:srgbClr val="F5BD4F"/>
                </a:solidFill>
                <a:latin typeface="Calibri"/>
              </a:rPr>
              <a:t>p = 0.010 &lt; 0.05  →  reject H0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Backtest Results</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RESULTS</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15</a:t>
            </a:r>
          </a:p>
        </p:txBody>
      </p:sp>
      <p:sp>
        <p:nvSpPr>
          <p:cNvPr id="7" name="Rounded Rectangle 6"/>
          <p:cNvSpPr/>
          <p:nvPr/>
        </p:nvSpPr>
        <p:spPr>
          <a:xfrm>
            <a:off x="548640" y="1417320"/>
            <a:ext cx="603504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5632703"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HOW OFTEN DID THE PRICE FALL AFTER A SPIKE?</a:t>
            </a:r>
          </a:p>
        </p:txBody>
      </p:sp>
      <p:pic>
        <p:nvPicPr>
          <p:cNvPr id="9" name="Picture 8" descr="backtest_decline_rates.png"/>
          <p:cNvPicPr>
            <a:picLocks noChangeAspect="1"/>
          </p:cNvPicPr>
          <p:nvPr/>
        </p:nvPicPr>
        <p:blipFill>
          <a:blip r:embed="rId3"/>
          <a:stretch>
            <a:fillRect/>
          </a:stretch>
        </p:blipFill>
        <p:spPr>
          <a:xfrm>
            <a:off x="685800" y="2011680"/>
            <a:ext cx="5760719" cy="3840479"/>
          </a:xfrm>
          <a:prstGeom prst="rect">
            <a:avLst/>
          </a:prstGeom>
        </p:spPr>
      </p:pic>
      <p:graphicFrame>
        <p:nvGraphicFramePr>
          <p:cNvPr id="10" name="Table 9"/>
          <p:cNvGraphicFramePr>
            <a:graphicFrameLocks noGrp="1"/>
          </p:cNvGraphicFramePr>
          <p:nvPr/>
        </p:nvGraphicFramePr>
        <p:xfrm>
          <a:off x="6812280" y="1417320"/>
          <a:ext cx="4828031" cy="2286000"/>
        </p:xfrm>
        <a:graphic>
          <a:graphicData uri="http://schemas.openxmlformats.org/drawingml/2006/table">
            <a:tbl>
              <a:tblPr firstRow="1" bandRow="0">
                <a:tableStyleId>{5C22544A-7EE6-4342-B048-85BDC9FD1C3A}</a:tableStyleId>
              </a:tblPr>
              <a:tblGrid>
                <a:gridCol w="960120"/>
                <a:gridCol w="1033271"/>
                <a:gridCol w="960120"/>
                <a:gridCol w="868680"/>
                <a:gridCol w="1005840"/>
              </a:tblGrid>
              <a:tr h="457200">
                <a:tc>
                  <a:txBody>
                    <a:bodyPr wrap="square"/>
                    <a:lstStyle/>
                    <a:p>
                      <a:pPr algn="l"/>
                      <a:r>
                        <a:rPr sz="1300" b="1" i="0">
                          <a:solidFill>
                            <a:srgbClr val="14B8A6"/>
                          </a:solidFill>
                          <a:latin typeface="Calibri"/>
                        </a:rPr>
                        <a:t>Horizon</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10232D"/>
                    </a:solidFill>
                  </a:tcPr>
                </a:tc>
                <a:tc>
                  <a:txBody>
                    <a:bodyPr wrap="square"/>
                    <a:lstStyle/>
                    <a:p>
                      <a:pPr algn="r"/>
                      <a:r>
                        <a:rPr sz="1300" b="1" i="0">
                          <a:solidFill>
                            <a:srgbClr val="14B8A6"/>
                          </a:solidFill>
                          <a:latin typeface="Calibri"/>
                        </a:rPr>
                        <a:t>After spike</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10232D"/>
                    </a:solidFill>
                  </a:tcPr>
                </a:tc>
                <a:tc>
                  <a:txBody>
                    <a:bodyPr wrap="square"/>
                    <a:lstStyle/>
                    <a:p>
                      <a:pPr algn="r"/>
                      <a:r>
                        <a:rPr sz="1300" b="1" i="0">
                          <a:solidFill>
                            <a:srgbClr val="14B8A6"/>
                          </a:solidFill>
                          <a:latin typeface="Calibri"/>
                        </a:rPr>
                        <a:t>Baseline</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10232D"/>
                    </a:solidFill>
                  </a:tcPr>
                </a:tc>
                <a:tc>
                  <a:txBody>
                    <a:bodyPr wrap="square"/>
                    <a:lstStyle/>
                    <a:p>
                      <a:pPr algn="r"/>
                      <a:r>
                        <a:rPr sz="1300" b="1" i="0">
                          <a:solidFill>
                            <a:srgbClr val="14B8A6"/>
                          </a:solidFill>
                          <a:latin typeface="Calibri"/>
                        </a:rPr>
                        <a:t>Lift</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10232D"/>
                    </a:solidFill>
                  </a:tcPr>
                </a:tc>
                <a:tc>
                  <a:txBody>
                    <a:bodyPr wrap="square"/>
                    <a:lstStyle/>
                    <a:p>
                      <a:pPr algn="r"/>
                      <a:r>
                        <a:rPr sz="1300" b="1" i="0">
                          <a:solidFill>
                            <a:srgbClr val="14B8A6"/>
                          </a:solidFill>
                          <a:latin typeface="Calibri"/>
                        </a:rPr>
                        <a:t>p-value</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10232D"/>
                    </a:solidFill>
                  </a:tcPr>
                </a:tc>
              </a:tr>
              <a:tr h="457200">
                <a:tc>
                  <a:txBody>
                    <a:bodyPr wrap="square"/>
                    <a:lstStyle/>
                    <a:p>
                      <a:pPr algn="l"/>
                      <a:r>
                        <a:rPr sz="1400" b="0" i="0">
                          <a:solidFill>
                            <a:srgbClr val="F1F5F9"/>
                          </a:solidFill>
                          <a:latin typeface="Calibri"/>
                        </a:rPr>
                        <a:t>1 day</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43.6%</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46.5%</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-3.0%</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0.725</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457200">
                <a:tc>
                  <a:txBody>
                    <a:bodyPr wrap="square"/>
                    <a:lstStyle/>
                    <a:p>
                      <a:pPr algn="l"/>
                      <a:r>
                        <a:rPr sz="1400" b="0" i="0">
                          <a:solidFill>
                            <a:srgbClr val="F1F5F9"/>
                          </a:solidFill>
                          <a:latin typeface="Calibri"/>
                        </a:rPr>
                        <a:t>5 days</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44.6%</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44.3%</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+0.3%</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0.478</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457200">
                <a:tc>
                  <a:txBody>
                    <a:bodyPr wrap="square"/>
                    <a:lstStyle/>
                    <a:p>
                      <a:pPr algn="l"/>
                      <a:r>
                        <a:rPr sz="1400" b="0" i="0">
                          <a:solidFill>
                            <a:srgbClr val="F1F5F9"/>
                          </a:solidFill>
                          <a:latin typeface="Calibri"/>
                        </a:rPr>
                        <a:t>10 days</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47.5%</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44.2%</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+3.4%</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0" i="0">
                          <a:solidFill>
                            <a:srgbClr val="F1F5F9"/>
                          </a:solidFill>
                          <a:latin typeface="Calibri"/>
                        </a:rPr>
                        <a:t>0.249</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457200">
                <a:tc>
                  <a:txBody>
                    <a:bodyPr wrap="square"/>
                    <a:lstStyle/>
                    <a:p>
                      <a:pPr algn="l"/>
                      <a:r>
                        <a:rPr sz="1400" b="1" i="0">
                          <a:solidFill>
                            <a:srgbClr val="F5BD4F"/>
                          </a:solidFill>
                          <a:latin typeface="Calibri"/>
                        </a:rPr>
                        <a:t>20 days</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1" i="0">
                          <a:solidFill>
                            <a:srgbClr val="F5BD4F"/>
                          </a:solidFill>
                          <a:latin typeface="Calibri"/>
                        </a:rPr>
                        <a:t>54.5%</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1" i="0">
                          <a:solidFill>
                            <a:srgbClr val="F5BD4F"/>
                          </a:solidFill>
                          <a:latin typeface="Calibri"/>
                        </a:rPr>
                        <a:t>43.0%</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1" i="0">
                          <a:solidFill>
                            <a:srgbClr val="F5BD4F"/>
                          </a:solidFill>
                          <a:latin typeface="Calibri"/>
                        </a:rPr>
                        <a:t>+11.4%</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r"/>
                      <a:r>
                        <a:rPr sz="1400" b="1" i="0">
                          <a:solidFill>
                            <a:srgbClr val="F5BD4F"/>
                          </a:solidFill>
                          <a:latin typeface="Calibri"/>
                        </a:rPr>
                        <a:t>0.010</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bl>
          </a:graphicData>
        </a:graphic>
      </p:graphicFrame>
      <p:sp>
        <p:nvSpPr>
          <p:cNvPr id="11" name="Rounded Rectangle 10"/>
          <p:cNvSpPr/>
          <p:nvPr/>
        </p:nvSpPr>
        <p:spPr>
          <a:xfrm>
            <a:off x="6812280" y="3931920"/>
            <a:ext cx="4828032" cy="22402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13448" y="4059935"/>
            <a:ext cx="442569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F5BD4F"/>
                </a:solidFill>
                <a:latin typeface="Calibri"/>
              </a:rPr>
              <a:t>TAKEAWAY</a:t>
            </a:r>
          </a:p>
        </p:txBody>
      </p:sp>
      <p:sp>
        <p:nvSpPr>
          <p:cNvPr id="13" name="TextBox 12"/>
          <p:cNvSpPr txBox="1"/>
          <p:nvPr/>
        </p:nvSpPr>
        <p:spPr>
          <a:xfrm>
            <a:off x="7013448" y="4297680"/>
            <a:ext cx="4434840" cy="1828800"/>
          </a:xfrm>
          <a:prstGeom prst="rect">
            <a:avLst/>
          </a:prstGeom>
          <a:noFill/>
        </p:spPr>
        <p:txBody>
          <a:bodyPr wrap="square" anchor="t" lIns="45720" rIns="45720" tIns="27432" bIns="27432">
            <a:spAutoFit/>
          </a:bodyPr>
          <a:lstStyle/>
          <a:p>
            <a:pPr algn="l" marL="256032" indent="-256032">
              <a:lnSpc>
                <a:spcPct val="110000"/>
              </a:lnSpc>
              <a:spcAft>
                <a:spcPts val="800"/>
              </a:spcAft>
              <a:buClr>
                <a:srgbClr val="F5BD4F"/>
              </a:buClr>
              <a:buChar char="•"/>
            </a:pPr>
            <a:r>
              <a:rPr sz="1500" b="0" i="0">
                <a:solidFill>
                  <a:srgbClr val="F1F5F9"/>
                </a:solidFill>
                <a:latin typeface="Calibri"/>
              </a:rPr>
              <a:t>1–10 days: decline rate ≈ baseline → no short-term dump</a:t>
            </a:r>
          </a:p>
          <a:p>
            <a:pPr algn="l" marL="256032" indent="-256032">
              <a:lnSpc>
                <a:spcPct val="110000"/>
              </a:lnSpc>
              <a:spcAft>
                <a:spcPts val="800"/>
              </a:spcAft>
              <a:buClr>
                <a:srgbClr val="F5BD4F"/>
              </a:buClr>
              <a:buChar char="•"/>
            </a:pPr>
            <a:r>
              <a:rPr sz="1500" b="0" i="0">
                <a:solidFill>
                  <a:srgbClr val="F1F5F9"/>
                </a:solidFill>
                <a:latin typeface="Calibri"/>
              </a:rPr>
              <a:t>20 days: 54.5% vs. 43.0%, significant (p = 0.010)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What Happens After a Spike?</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RESULTS</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16</a:t>
            </a:r>
          </a:p>
        </p:txBody>
      </p:sp>
      <p:sp>
        <p:nvSpPr>
          <p:cNvPr id="7" name="Rounded Rectangle 6"/>
          <p:cNvSpPr/>
          <p:nvPr/>
        </p:nvSpPr>
        <p:spPr>
          <a:xfrm>
            <a:off x="548640" y="1417320"/>
            <a:ext cx="658368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618134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AVERAGE CUMULATIVE RETURN AFTER AN UPWARD SPIKE</a:t>
            </a:r>
          </a:p>
        </p:txBody>
      </p:sp>
      <p:pic>
        <p:nvPicPr>
          <p:cNvPr id="9" name="Picture 8" descr="event_study_path.png"/>
          <p:cNvPicPr>
            <a:picLocks noChangeAspect="1"/>
          </p:cNvPicPr>
          <p:nvPr/>
        </p:nvPicPr>
        <p:blipFill>
          <a:blip r:embed="rId3"/>
          <a:stretch>
            <a:fillRect/>
          </a:stretch>
        </p:blipFill>
        <p:spPr>
          <a:xfrm>
            <a:off x="685799" y="1828799"/>
            <a:ext cx="6309360" cy="4206240"/>
          </a:xfrm>
          <a:prstGeom prst="rect">
            <a:avLst/>
          </a:prstGeom>
        </p:spPr>
      </p:pic>
      <p:sp>
        <p:nvSpPr>
          <p:cNvPr id="10" name="Rounded Rectangle 9"/>
          <p:cNvSpPr/>
          <p:nvPr/>
        </p:nvSpPr>
        <p:spPr>
          <a:xfrm>
            <a:off x="7360920" y="1417320"/>
            <a:ext cx="4279392"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2088" y="1545336"/>
            <a:ext cx="3877055"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F5BD4F"/>
                </a:solidFill>
                <a:latin typeface="Calibri"/>
              </a:rPr>
              <a:t>INTERPRETATION</a:t>
            </a:r>
          </a:p>
        </p:txBody>
      </p:sp>
      <p:sp>
        <p:nvSpPr>
          <p:cNvPr id="12" name="TextBox 11"/>
          <p:cNvSpPr txBox="1"/>
          <p:nvPr/>
        </p:nvSpPr>
        <p:spPr>
          <a:xfrm>
            <a:off x="7562088" y="1828800"/>
            <a:ext cx="3886200" cy="4206240"/>
          </a:xfrm>
          <a:prstGeom prst="rect">
            <a:avLst/>
          </a:prstGeom>
          <a:noFill/>
        </p:spPr>
        <p:txBody>
          <a:bodyPr wrap="square" anchor="t" lIns="45720" rIns="45720" tIns="27432" bIns="27432">
            <a:spAutoFit/>
          </a:bodyPr>
          <a:lstStyle/>
          <a:p>
            <a:pPr algn="l" marL="256032" indent="-256032">
              <a:lnSpc>
                <a:spcPct val="110000"/>
              </a:lnSpc>
              <a:spcAft>
                <a:spcPts val="1200"/>
              </a:spcAft>
              <a:buClr>
                <a:srgbClr val="F5BD4F"/>
              </a:buClr>
              <a:buChar char="•"/>
            </a:pPr>
            <a:r>
              <a:rPr sz="1500" b="1" i="0">
                <a:solidFill>
                  <a:srgbClr val="F1F5F9"/>
                </a:solidFill>
                <a:latin typeface="Calibri"/>
              </a:rPr>
              <a:t>No crash: </a:t>
            </a:r>
            <a:r>
              <a:rPr sz="1500" b="0" i="0">
                <a:solidFill>
                  <a:srgbClr val="F1F5F9"/>
                </a:solidFill>
                <a:latin typeface="Calibri"/>
              </a:rPr>
              <a:t>the average path stays positive after a spike</a:t>
            </a:r>
          </a:p>
          <a:p>
            <a:pPr algn="l" marL="256032" indent="-256032">
              <a:lnSpc>
                <a:spcPct val="110000"/>
              </a:lnSpc>
              <a:spcAft>
                <a:spcPts val="1200"/>
              </a:spcAft>
              <a:buClr>
                <a:srgbClr val="F5BD4F"/>
              </a:buClr>
              <a:buChar char="•"/>
            </a:pPr>
            <a:r>
              <a:rPr sz="1500" b="1" i="0">
                <a:solidFill>
                  <a:srgbClr val="F1F5F9"/>
                </a:solidFill>
                <a:latin typeface="Calibri"/>
              </a:rPr>
              <a:t>Slower growth: </a:t>
            </a:r>
            <a:r>
              <a:rPr sz="1500" b="0" i="0">
                <a:solidFill>
                  <a:srgbClr val="F1F5F9"/>
                </a:solidFill>
                <a:latin typeface="Calibri"/>
              </a:rPr>
              <a:t>+0.29% after 20 days vs. +1.02% for a normal day</a:t>
            </a:r>
          </a:p>
          <a:p>
            <a:pPr algn="l" marL="256032" indent="-256032">
              <a:lnSpc>
                <a:spcPct val="110000"/>
              </a:lnSpc>
              <a:spcAft>
                <a:spcPts val="1200"/>
              </a:spcAft>
              <a:buClr>
                <a:srgbClr val="F5BD4F"/>
              </a:buClr>
              <a:buChar char="•"/>
            </a:pPr>
            <a:r>
              <a:rPr sz="1500" b="1" i="0">
                <a:solidFill>
                  <a:srgbClr val="F5BD4F"/>
                </a:solidFill>
                <a:latin typeface="Calibri"/>
              </a:rPr>
              <a:t>Meaning: </a:t>
            </a:r>
            <a:r>
              <a:rPr sz="1500" b="0" i="0">
                <a:solidFill>
                  <a:srgbClr val="F1F5F9"/>
                </a:solidFill>
                <a:latin typeface="Calibri"/>
              </a:rPr>
              <a:t>spikes are news-driven moves that are partly given back over about a month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Interactive Dashboard</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MEMBER C</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17</a:t>
            </a:r>
          </a:p>
        </p:txBody>
      </p:sp>
      <p:sp>
        <p:nvSpPr>
          <p:cNvPr id="7" name="Rounded Rectangle 6"/>
          <p:cNvSpPr/>
          <p:nvPr/>
        </p:nvSpPr>
        <p:spPr>
          <a:xfrm>
            <a:off x="548640" y="1417320"/>
            <a:ext cx="758952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718718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OVERVIEW TAB: PRICE, ANOMALY MARKERS AND VOLUME</a:t>
            </a:r>
          </a:p>
        </p:txBody>
      </p:sp>
      <p:pic>
        <p:nvPicPr>
          <p:cNvPr id="9" name="Picture 8" descr="dashboard_overview.png"/>
          <p:cNvPicPr>
            <a:picLocks noChangeAspect="1"/>
          </p:cNvPicPr>
          <p:nvPr/>
        </p:nvPicPr>
        <p:blipFill>
          <a:blip r:embed="rId3"/>
          <a:stretch>
            <a:fillRect/>
          </a:stretch>
        </p:blipFill>
        <p:spPr>
          <a:xfrm>
            <a:off x="685800" y="2368841"/>
            <a:ext cx="7315200" cy="3080437"/>
          </a:xfrm>
          <a:prstGeom prst="rect">
            <a:avLst/>
          </a:prstGeom>
        </p:spPr>
      </p:pic>
      <p:sp>
        <p:nvSpPr>
          <p:cNvPr id="10" name="Rounded Rectangle 9"/>
          <p:cNvSpPr/>
          <p:nvPr/>
        </p:nvSpPr>
        <p:spPr>
          <a:xfrm>
            <a:off x="8366760" y="1417320"/>
            <a:ext cx="3273552"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67928" y="1545336"/>
            <a:ext cx="287121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FEATURES</a:t>
            </a:r>
          </a:p>
        </p:txBody>
      </p:sp>
      <p:sp>
        <p:nvSpPr>
          <p:cNvPr id="12" name="TextBox 11"/>
          <p:cNvSpPr txBox="1"/>
          <p:nvPr/>
        </p:nvSpPr>
        <p:spPr>
          <a:xfrm>
            <a:off x="8567928" y="1828800"/>
            <a:ext cx="2926080" cy="4251960"/>
          </a:xfrm>
          <a:prstGeom prst="rect">
            <a:avLst/>
          </a:prstGeom>
          <a:noFill/>
        </p:spPr>
        <p:txBody>
          <a:bodyPr wrap="square" anchor="t" lIns="45720" rIns="45720" tIns="27432" bIns="27432">
            <a:spAutoFit/>
          </a:bodyPr>
          <a:lstStyle/>
          <a:p>
            <a:pPr algn="l" marL="256032" indent="-256032">
              <a:lnSpc>
                <a:spcPct val="110000"/>
              </a:lnSpc>
              <a:spcAft>
                <a:spcPts val="800"/>
              </a:spcAft>
              <a:buClr>
                <a:srgbClr val="F5BD4F"/>
              </a:buClr>
              <a:buChar char="•"/>
            </a:pPr>
            <a:r>
              <a:rPr sz="1400" b="0" i="0">
                <a:solidFill>
                  <a:srgbClr val="F1F5F9"/>
                </a:solidFill>
                <a:latin typeface="Calibri"/>
              </a:rPr>
              <a:t>Date range filter</a:t>
            </a:r>
          </a:p>
          <a:p>
            <a:pPr algn="l" marL="256032" indent="-256032">
              <a:lnSpc>
                <a:spcPct val="110000"/>
              </a:lnSpc>
              <a:spcAft>
                <a:spcPts val="800"/>
              </a:spcAft>
              <a:buClr>
                <a:srgbClr val="F5BD4F"/>
              </a:buClr>
              <a:buChar char="•"/>
            </a:pPr>
            <a:r>
              <a:rPr sz="1400" b="0" i="0">
                <a:solidFill>
                  <a:srgbClr val="F1F5F9"/>
                </a:solidFill>
                <a:latin typeface="Calibri"/>
              </a:rPr>
              <a:t>Area, candlestick or line price chart</a:t>
            </a:r>
          </a:p>
          <a:p>
            <a:pPr algn="l" marL="256032" indent="-256032">
              <a:lnSpc>
                <a:spcPct val="110000"/>
              </a:lnSpc>
              <a:spcAft>
                <a:spcPts val="800"/>
              </a:spcAft>
              <a:buClr>
                <a:srgbClr val="F5BD4F"/>
              </a:buClr>
              <a:buChar char="•"/>
            </a:pPr>
            <a:r>
              <a:rPr sz="1400" b="0" i="0">
                <a:solidFill>
                  <a:srgbClr val="F1F5F9"/>
                </a:solidFill>
                <a:latin typeface="Calibri"/>
              </a:rPr>
              <a:t>Sliders: window, threshold, volume weight</a:t>
            </a:r>
          </a:p>
          <a:p>
            <a:pPr algn="l" marL="256032" indent="-256032">
              <a:lnSpc>
                <a:spcPct val="110000"/>
              </a:lnSpc>
              <a:spcAft>
                <a:spcPts val="800"/>
              </a:spcAft>
              <a:buClr>
                <a:srgbClr val="F5BD4F"/>
              </a:buClr>
              <a:buChar char="•"/>
            </a:pPr>
            <a:r>
              <a:rPr sz="1400" b="0" i="0">
                <a:solidFill>
                  <a:srgbClr val="F1F5F9"/>
                </a:solidFill>
                <a:latin typeface="Calibri"/>
              </a:rPr>
              <a:t>4 tabs: Overview, Signals, Backtest, Data</a:t>
            </a:r>
          </a:p>
          <a:p>
            <a:pPr algn="l" marL="256032" indent="-256032">
              <a:lnSpc>
                <a:spcPct val="110000"/>
              </a:lnSpc>
              <a:spcAft>
                <a:spcPts val="800"/>
              </a:spcAft>
              <a:buClr>
                <a:srgbClr val="F5BD4F"/>
              </a:buClr>
              <a:buChar char="•"/>
            </a:pPr>
            <a:r>
              <a:rPr sz="1400" b="0" i="0">
                <a:solidFill>
                  <a:srgbClr val="F1F5F9"/>
                </a:solidFill>
                <a:latin typeface="Calibri"/>
              </a:rPr>
              <a:t>Ranked anomaly tables</a:t>
            </a:r>
          </a:p>
          <a:p>
            <a:pPr algn="l" marL="256032" indent="-256032">
              <a:lnSpc>
                <a:spcPct val="110000"/>
              </a:lnSpc>
              <a:spcAft>
                <a:spcPts val="800"/>
              </a:spcAft>
              <a:buClr>
                <a:srgbClr val="F5BD4F"/>
              </a:buClr>
              <a:buChar char="•"/>
            </a:pPr>
            <a:r>
              <a:rPr sz="1400" b="0" i="0">
                <a:solidFill>
                  <a:srgbClr val="F1F5F9"/>
                </a:solidFill>
                <a:latin typeface="Calibri"/>
              </a:rPr>
              <a:t>CSV export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Visualisation Design Choices</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VISUALIZATION</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18</a:t>
            </a:r>
          </a:p>
        </p:txBody>
      </p:sp>
      <p:sp>
        <p:nvSpPr>
          <p:cNvPr id="7" name="Rounded Rectangle 6"/>
          <p:cNvSpPr/>
          <p:nvPr/>
        </p:nvSpPr>
        <p:spPr>
          <a:xfrm>
            <a:off x="548640" y="1417320"/>
            <a:ext cx="562356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522122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BACKTEST TAB</a:t>
            </a:r>
          </a:p>
        </p:txBody>
      </p:sp>
      <p:pic>
        <p:nvPicPr>
          <p:cNvPr id="9" name="Picture 8" descr="dashboard_backtest.png"/>
          <p:cNvPicPr>
            <a:picLocks noChangeAspect="1"/>
          </p:cNvPicPr>
          <p:nvPr/>
        </p:nvPicPr>
        <p:blipFill>
          <a:blip r:embed="rId3"/>
          <a:stretch>
            <a:fillRect/>
          </a:stretch>
        </p:blipFill>
        <p:spPr>
          <a:xfrm>
            <a:off x="685800" y="2090389"/>
            <a:ext cx="5349240" cy="2311460"/>
          </a:xfrm>
          <a:prstGeom prst="rect">
            <a:avLst/>
          </a:prstGeom>
        </p:spPr>
      </p:pic>
      <p:sp>
        <p:nvSpPr>
          <p:cNvPr id="10" name="TextBox 9"/>
          <p:cNvSpPr txBox="1"/>
          <p:nvPr/>
        </p:nvSpPr>
        <p:spPr>
          <a:xfrm>
            <a:off x="749808" y="4846320"/>
            <a:ext cx="5212080" cy="123444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KPI cards compare the decline rate after spikes with the market baseline; the histogram shows every outcome, and a slider changes what counts as a decline.</a:t>
            </a:r>
          </a:p>
        </p:txBody>
      </p:sp>
      <p:graphicFrame>
        <p:nvGraphicFramePr>
          <p:cNvPr id="11" name="Table 10"/>
          <p:cNvGraphicFramePr>
            <a:graphicFrameLocks noGrp="1"/>
          </p:cNvGraphicFramePr>
          <p:nvPr/>
        </p:nvGraphicFramePr>
        <p:xfrm>
          <a:off x="6400800" y="1417320"/>
          <a:ext cx="5239512" cy="3840480"/>
        </p:xfrm>
        <a:graphic>
          <a:graphicData uri="http://schemas.openxmlformats.org/drawingml/2006/table">
            <a:tbl>
              <a:tblPr firstRow="1" bandRow="0">
                <a:tableStyleId>{5C22544A-7EE6-4342-B048-85BDC9FD1C3A}</a:tableStyleId>
              </a:tblPr>
              <a:tblGrid>
                <a:gridCol w="2606040"/>
                <a:gridCol w="2633472"/>
              </a:tblGrid>
              <a:tr h="548640">
                <a:tc>
                  <a:txBody>
                    <a:bodyPr wrap="square"/>
                    <a:lstStyle/>
                    <a:p>
                      <a:pPr algn="l"/>
                      <a:r>
                        <a:rPr sz="1200" b="1" i="0">
                          <a:solidFill>
                            <a:srgbClr val="14B8A6"/>
                          </a:solidFill>
                          <a:latin typeface="Calibri"/>
                        </a:rPr>
                        <a:t>Chart</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10232D"/>
                    </a:solidFill>
                  </a:tcPr>
                </a:tc>
                <a:tc>
                  <a:txBody>
                    <a:bodyPr wrap="square"/>
                    <a:lstStyle/>
                    <a:p>
                      <a:pPr algn="l"/>
                      <a:r>
                        <a:rPr sz="1200" b="1" i="0">
                          <a:solidFill>
                            <a:srgbClr val="14B8A6"/>
                          </a:solidFill>
                          <a:latin typeface="Calibri"/>
                        </a:rPr>
                        <a:t>Question it answers</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10232D"/>
                    </a:solidFill>
                  </a:tcPr>
                </a:tc>
              </a:tr>
              <a:tr h="548640">
                <a:tc>
                  <a:txBody>
                    <a:bodyPr wrap="square"/>
                    <a:lstStyle/>
                    <a:p>
                      <a:pPr algn="l"/>
                      <a:r>
                        <a:rPr sz="1300" b="0" i="0">
                          <a:solidFill>
                            <a:srgbClr val="F1F5F9"/>
                          </a:solidFill>
                          <a:latin typeface="Calibri"/>
                        </a:rPr>
                        <a:t>Price + anomaly markers</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l"/>
                      <a:r>
                        <a:rPr sz="1300" b="0" i="0">
                          <a:solidFill>
                            <a:srgbClr val="F1F5F9"/>
                          </a:solidFill>
                          <a:latin typeface="Calibri"/>
                        </a:rPr>
                        <a:t>When do anomalies happen?</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548640">
                <a:tc>
                  <a:txBody>
                    <a:bodyPr wrap="square"/>
                    <a:lstStyle/>
                    <a:p>
                      <a:pPr algn="l"/>
                      <a:r>
                        <a:rPr sz="1300" b="0" i="0">
                          <a:solidFill>
                            <a:srgbClr val="F1F5F9"/>
                          </a:solidFill>
                          <a:latin typeface="Calibri"/>
                        </a:rPr>
                        <a:t>Z-score lines + ±2.5σ band</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l"/>
                      <a:r>
                        <a:rPr sz="1300" b="0" i="0">
                          <a:solidFill>
                            <a:srgbClr val="F1F5F9"/>
                          </a:solidFill>
                          <a:latin typeface="Calibri"/>
                        </a:rPr>
                        <a:t>Why was this day flagged?</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548640">
                <a:tc>
                  <a:txBody>
                    <a:bodyPr wrap="square"/>
                    <a:lstStyle/>
                    <a:p>
                      <a:pPr algn="l"/>
                      <a:r>
                        <a:rPr sz="1300" b="0" i="0">
                          <a:solidFill>
                            <a:srgbClr val="F1F5F9"/>
                          </a:solidFill>
                          <a:latin typeface="Calibri"/>
                        </a:rPr>
                        <a:t>Volume bars</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l"/>
                      <a:r>
                        <a:rPr sz="1300" b="0" i="0">
                          <a:solidFill>
                            <a:srgbClr val="F1F5F9"/>
                          </a:solidFill>
                          <a:latin typeface="Calibri"/>
                        </a:rPr>
                        <a:t>Was the move on heavy trading?</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548640">
                <a:tc>
                  <a:txBody>
                    <a:bodyPr wrap="square"/>
                    <a:lstStyle/>
                    <a:p>
                      <a:pPr algn="l"/>
                      <a:r>
                        <a:rPr sz="1300" b="0" i="0">
                          <a:solidFill>
                            <a:srgbClr val="F1F5F9"/>
                          </a:solidFill>
                          <a:latin typeface="Calibri"/>
                        </a:rPr>
                        <a:t>Histogram of forward returns</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l"/>
                      <a:r>
                        <a:rPr sz="1300" b="0" i="0">
                          <a:solidFill>
                            <a:srgbClr val="F1F5F9"/>
                          </a:solidFill>
                          <a:latin typeface="Calibri"/>
                        </a:rPr>
                        <a:t>What usually happens next?</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548640">
                <a:tc>
                  <a:txBody>
                    <a:bodyPr wrap="square"/>
                    <a:lstStyle/>
                    <a:p>
                      <a:pPr algn="l"/>
                      <a:r>
                        <a:rPr sz="1300" b="0" i="0">
                          <a:solidFill>
                            <a:srgbClr val="F1F5F9"/>
                          </a:solidFill>
                          <a:latin typeface="Calibri"/>
                        </a:rPr>
                        <a:t>Bar chart vs. baseline</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l"/>
                      <a:r>
                        <a:rPr sz="1300" b="0" i="0">
                          <a:solidFill>
                            <a:srgbClr val="F1F5F9"/>
                          </a:solidFill>
                          <a:latin typeface="Calibri"/>
                        </a:rPr>
                        <a:t>Is it better than chance?</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r h="548640">
                <a:tc>
                  <a:txBody>
                    <a:bodyPr wrap="square"/>
                    <a:lstStyle/>
                    <a:p>
                      <a:pPr algn="l"/>
                      <a:r>
                        <a:rPr sz="1300" b="0" i="0">
                          <a:solidFill>
                            <a:srgbClr val="F1F5F9"/>
                          </a:solidFill>
                          <a:latin typeface="Calibri"/>
                        </a:rPr>
                        <a:t>KPI cards &amp; ranked tables</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c>
                  <a:txBody>
                    <a:bodyPr wrap="square"/>
                    <a:lstStyle/>
                    <a:p>
                      <a:pPr algn="l"/>
                      <a:r>
                        <a:rPr sz="1300" b="0" i="0">
                          <a:solidFill>
                            <a:srgbClr val="F1F5F9"/>
                          </a:solidFill>
                          <a:latin typeface="Calibri"/>
                        </a:rPr>
                        <a:t>Headline numbers, drill-down</a:t>
                      </a:r>
                    </a:p>
                  </a:txBody>
                  <a:tcPr marL="73152" marR="73152" marT="27432" marB="27432" anchor="ctr">
                    <a:lnL w="12700">
                      <a:solidFill>
                        <a:srgbClr val="223C52"/>
                      </a:solidFill>
                    </a:lnL>
                    <a:lnR w="12700">
                      <a:solidFill>
                        <a:srgbClr val="223C52"/>
                      </a:solidFill>
                    </a:lnR>
                    <a:lnT w="12700">
                      <a:solidFill>
                        <a:srgbClr val="223C52"/>
                      </a:solidFill>
                    </a:lnT>
                    <a:lnB w="12700">
                      <a:solidFill>
                        <a:srgbClr val="223C52"/>
                      </a:solidFill>
                    </a:lnB>
                    <a:solidFill>
                      <a:srgbClr val="0B1722"/>
                    </a:solidFill>
                  </a:tcPr>
                </a:tc>
              </a:tr>
            </a:tbl>
          </a:graphicData>
        </a:graphic>
      </p:graphicFrame>
      <p:sp>
        <p:nvSpPr>
          <p:cNvPr id="12" name="TextBox 11"/>
          <p:cNvSpPr txBox="1"/>
          <p:nvPr/>
        </p:nvSpPr>
        <p:spPr>
          <a:xfrm>
            <a:off x="6400800" y="5440680"/>
            <a:ext cx="5239512" cy="731520"/>
          </a:xfrm>
          <a:prstGeom prst="rect">
            <a:avLst/>
          </a:prstGeom>
          <a:noFill/>
        </p:spPr>
        <p:txBody>
          <a:bodyPr wrap="square" anchor="t" lIns="45720" rIns="45720" tIns="27432" bIns="27432">
            <a:spAutoFit/>
          </a:bodyPr>
          <a:lstStyle/>
          <a:p>
            <a:pPr algn="l">
              <a:lnSpc>
                <a:spcPct val="110000"/>
              </a:lnSpc>
              <a:spcAft>
                <a:spcPts val="0"/>
              </a:spcAft>
            </a:pPr>
            <a:r>
              <a:rPr sz="1300" b="0" i="0">
                <a:solidFill>
                  <a:srgbClr val="94A3B8"/>
                </a:solidFill>
                <a:latin typeface="Calibri"/>
              </a:rPr>
              <a:t>Interactive: Plotly (hover, zoom) · Static charts: Matplotlib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Conclusions</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SUMMARY</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19</a:t>
            </a:r>
          </a:p>
        </p:txBody>
      </p:sp>
      <p:sp>
        <p:nvSpPr>
          <p:cNvPr id="7" name="Rounded Rectangle 6"/>
          <p:cNvSpPr/>
          <p:nvPr/>
        </p:nvSpPr>
        <p:spPr>
          <a:xfrm>
            <a:off x="548640" y="1463040"/>
            <a:ext cx="5394960" cy="2148840"/>
          </a:xfrm>
          <a:prstGeom prst="roundRect">
            <a:avLst>
              <a:gd name="adj" fmla="val 6000"/>
            </a:avLst>
          </a:prstGeom>
          <a:solidFill>
            <a:srgbClr val="0B1722"/>
          </a:solidFill>
          <a:ln w="1270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45920"/>
            <a:ext cx="4937760" cy="457200"/>
          </a:xfrm>
          <a:prstGeom prst="rect">
            <a:avLst/>
          </a:prstGeom>
          <a:noFill/>
        </p:spPr>
        <p:txBody>
          <a:bodyPr wrap="square" anchor="t" lIns="45720" rIns="45720" tIns="27432" bIns="27432">
            <a:spAutoFit/>
          </a:bodyPr>
          <a:lstStyle/>
          <a:p>
            <a:pPr algn="l">
              <a:lnSpc>
                <a:spcPct val="110000"/>
              </a:lnSpc>
              <a:spcAft>
                <a:spcPts val="0"/>
              </a:spcAft>
            </a:pPr>
            <a:r>
              <a:rPr sz="2100" b="1" i="0">
                <a:solidFill>
                  <a:srgbClr val="14B8A6"/>
                </a:solidFill>
                <a:latin typeface="Calibri"/>
              </a:rPr>
              <a:t>Detection works</a:t>
            </a:r>
          </a:p>
        </p:txBody>
      </p:sp>
      <p:sp>
        <p:nvSpPr>
          <p:cNvPr id="9" name="TextBox 8"/>
          <p:cNvSpPr txBox="1"/>
          <p:nvPr/>
        </p:nvSpPr>
        <p:spPr>
          <a:xfrm>
            <a:off x="777240" y="2194560"/>
            <a:ext cx="4937760" cy="1325880"/>
          </a:xfrm>
          <a:prstGeom prst="rect">
            <a:avLst/>
          </a:prstGeom>
          <a:noFill/>
        </p:spPr>
        <p:txBody>
          <a:bodyPr wrap="square" anchor="t" lIns="45720" rIns="45720" tIns="27432" bIns="27432">
            <a:spAutoFit/>
          </a:bodyPr>
          <a:lstStyle/>
          <a:p>
            <a:pPr algn="l">
              <a:lnSpc>
                <a:spcPct val="110000"/>
              </a:lnSpc>
              <a:spcAft>
                <a:spcPts val="0"/>
              </a:spcAft>
            </a:pPr>
            <a:r>
              <a:rPr sz="1600" b="0" i="0">
                <a:solidFill>
                  <a:srgbClr val="F1F5F9"/>
                </a:solidFill>
                <a:latin typeface="Calibri"/>
              </a:rPr>
              <a:t>239 anomalous days (3.9%); the strongest match real news (9/11, 2013 crash, Brexit, Covid vaccine).</a:t>
            </a:r>
          </a:p>
        </p:txBody>
      </p:sp>
      <p:sp>
        <p:nvSpPr>
          <p:cNvPr id="10" name="Rounded Rectangle 9"/>
          <p:cNvSpPr/>
          <p:nvPr/>
        </p:nvSpPr>
        <p:spPr>
          <a:xfrm>
            <a:off x="6245352" y="1463040"/>
            <a:ext cx="5394960" cy="2148840"/>
          </a:xfrm>
          <a:prstGeom prst="roundRect">
            <a:avLst>
              <a:gd name="adj" fmla="val 6000"/>
            </a:avLst>
          </a:prstGeom>
          <a:solidFill>
            <a:srgbClr val="0B1722"/>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645920"/>
            <a:ext cx="4937760" cy="457200"/>
          </a:xfrm>
          <a:prstGeom prst="rect">
            <a:avLst/>
          </a:prstGeom>
          <a:noFill/>
        </p:spPr>
        <p:txBody>
          <a:bodyPr wrap="square" anchor="t" lIns="45720" rIns="45720" tIns="27432" bIns="27432">
            <a:spAutoFit/>
          </a:bodyPr>
          <a:lstStyle/>
          <a:p>
            <a:pPr algn="l">
              <a:lnSpc>
                <a:spcPct val="110000"/>
              </a:lnSpc>
              <a:spcAft>
                <a:spcPts val="0"/>
              </a:spcAft>
            </a:pPr>
            <a:r>
              <a:rPr sz="2100" b="1" i="0">
                <a:solidFill>
                  <a:srgbClr val="38BDF8"/>
                </a:solidFill>
                <a:latin typeface="Calibri"/>
              </a:rPr>
              <a:t>No short-term dump</a:t>
            </a:r>
          </a:p>
        </p:txBody>
      </p:sp>
      <p:sp>
        <p:nvSpPr>
          <p:cNvPr id="12" name="TextBox 11"/>
          <p:cNvSpPr txBox="1"/>
          <p:nvPr/>
        </p:nvSpPr>
        <p:spPr>
          <a:xfrm>
            <a:off x="6473952" y="2194560"/>
            <a:ext cx="4937760" cy="1325880"/>
          </a:xfrm>
          <a:prstGeom prst="rect">
            <a:avLst/>
          </a:prstGeom>
          <a:noFill/>
        </p:spPr>
        <p:txBody>
          <a:bodyPr wrap="square" anchor="t" lIns="45720" rIns="45720" tIns="27432" bIns="27432">
            <a:spAutoFit/>
          </a:bodyPr>
          <a:lstStyle/>
          <a:p>
            <a:pPr algn="l">
              <a:lnSpc>
                <a:spcPct val="110000"/>
              </a:lnSpc>
              <a:spcAft>
                <a:spcPts val="0"/>
              </a:spcAft>
            </a:pPr>
            <a:r>
              <a:rPr sz="1600" b="0" i="0">
                <a:solidFill>
                  <a:srgbClr val="F1F5F9"/>
                </a:solidFill>
                <a:latin typeface="Calibri"/>
              </a:rPr>
              <a:t>1–10 days after a spike, gold falls about as often as on any day (p &gt; 0.2).</a:t>
            </a:r>
          </a:p>
        </p:txBody>
      </p:sp>
      <p:sp>
        <p:nvSpPr>
          <p:cNvPr id="13" name="Rounded Rectangle 12"/>
          <p:cNvSpPr/>
          <p:nvPr/>
        </p:nvSpPr>
        <p:spPr>
          <a:xfrm>
            <a:off x="548640" y="3840480"/>
            <a:ext cx="5394960" cy="2148840"/>
          </a:xfrm>
          <a:prstGeom prst="roundRect">
            <a:avLst>
              <a:gd name="adj" fmla="val 6000"/>
            </a:avLst>
          </a:prstGeom>
          <a:solidFill>
            <a:srgbClr val="0B172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023360"/>
            <a:ext cx="4937760" cy="457200"/>
          </a:xfrm>
          <a:prstGeom prst="rect">
            <a:avLst/>
          </a:prstGeom>
          <a:noFill/>
        </p:spPr>
        <p:txBody>
          <a:bodyPr wrap="square" anchor="t" lIns="45720" rIns="45720" tIns="27432" bIns="27432">
            <a:spAutoFit/>
          </a:bodyPr>
          <a:lstStyle/>
          <a:p>
            <a:pPr algn="l">
              <a:lnSpc>
                <a:spcPct val="110000"/>
              </a:lnSpc>
              <a:spcAft>
                <a:spcPts val="0"/>
              </a:spcAft>
            </a:pPr>
            <a:r>
              <a:rPr sz="2100" b="1" i="0">
                <a:solidFill>
                  <a:srgbClr val="10B981"/>
                </a:solidFill>
                <a:latin typeface="Calibri"/>
              </a:rPr>
              <a:t>Slow partial reversal</a:t>
            </a:r>
          </a:p>
        </p:txBody>
      </p:sp>
      <p:sp>
        <p:nvSpPr>
          <p:cNvPr id="15" name="TextBox 14"/>
          <p:cNvSpPr txBox="1"/>
          <p:nvPr/>
        </p:nvSpPr>
        <p:spPr>
          <a:xfrm>
            <a:off x="777240" y="4572000"/>
            <a:ext cx="4937760" cy="1325880"/>
          </a:xfrm>
          <a:prstGeom prst="rect">
            <a:avLst/>
          </a:prstGeom>
          <a:noFill/>
        </p:spPr>
        <p:txBody>
          <a:bodyPr wrap="square" anchor="t" lIns="45720" rIns="45720" tIns="27432" bIns="27432">
            <a:spAutoFit/>
          </a:bodyPr>
          <a:lstStyle/>
          <a:p>
            <a:pPr algn="l">
              <a:lnSpc>
                <a:spcPct val="110000"/>
              </a:lnSpc>
              <a:spcAft>
                <a:spcPts val="0"/>
              </a:spcAft>
            </a:pPr>
            <a:r>
              <a:rPr sz="1600" b="0" i="0">
                <a:solidFill>
                  <a:srgbClr val="F1F5F9"/>
                </a:solidFill>
                <a:latin typeface="Calibri"/>
              </a:rPr>
              <a:t>After 20 days: 54.5% vs. 43.0% declines (p = 0.010).</a:t>
            </a:r>
          </a:p>
        </p:txBody>
      </p:sp>
      <p:sp>
        <p:nvSpPr>
          <p:cNvPr id="16" name="Rounded Rectangle 15"/>
          <p:cNvSpPr/>
          <p:nvPr/>
        </p:nvSpPr>
        <p:spPr>
          <a:xfrm>
            <a:off x="6245352" y="3840480"/>
            <a:ext cx="5394960" cy="2148840"/>
          </a:xfrm>
          <a:prstGeom prst="roundRect">
            <a:avLst>
              <a:gd name="adj" fmla="val 6000"/>
            </a:avLst>
          </a:prstGeom>
          <a:solidFill>
            <a:srgbClr val="0B1722"/>
          </a:solidFill>
          <a:ln w="12700">
            <a:solidFill>
              <a:srgbClr val="F5B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4023360"/>
            <a:ext cx="4937760" cy="457200"/>
          </a:xfrm>
          <a:prstGeom prst="rect">
            <a:avLst/>
          </a:prstGeom>
          <a:noFill/>
        </p:spPr>
        <p:txBody>
          <a:bodyPr wrap="square" anchor="t" lIns="45720" rIns="45720" tIns="27432" bIns="27432">
            <a:spAutoFit/>
          </a:bodyPr>
          <a:lstStyle/>
          <a:p>
            <a:pPr algn="l">
              <a:lnSpc>
                <a:spcPct val="110000"/>
              </a:lnSpc>
              <a:spcAft>
                <a:spcPts val="0"/>
              </a:spcAft>
            </a:pPr>
            <a:r>
              <a:rPr sz="2100" b="1" i="0">
                <a:solidFill>
                  <a:srgbClr val="F5BD4F"/>
                </a:solidFill>
                <a:latin typeface="Calibri"/>
              </a:rPr>
              <a:t>Answer to our question</a:t>
            </a:r>
          </a:p>
        </p:txBody>
      </p:sp>
      <p:sp>
        <p:nvSpPr>
          <p:cNvPr id="18" name="TextBox 17"/>
          <p:cNvSpPr txBox="1"/>
          <p:nvPr/>
        </p:nvSpPr>
        <p:spPr>
          <a:xfrm>
            <a:off x="6473952" y="4572000"/>
            <a:ext cx="4937760" cy="1325880"/>
          </a:xfrm>
          <a:prstGeom prst="rect">
            <a:avLst/>
          </a:prstGeom>
          <a:noFill/>
        </p:spPr>
        <p:txBody>
          <a:bodyPr wrap="square" anchor="t" lIns="45720" rIns="45720" tIns="27432" bIns="27432">
            <a:spAutoFit/>
          </a:bodyPr>
          <a:lstStyle/>
          <a:p>
            <a:pPr algn="l">
              <a:lnSpc>
                <a:spcPct val="110000"/>
              </a:lnSpc>
              <a:spcAft>
                <a:spcPts val="0"/>
              </a:spcAft>
            </a:pPr>
            <a:r>
              <a:rPr sz="1600" b="0" i="0">
                <a:solidFill>
                  <a:srgbClr val="F1F5F9"/>
                </a:solidFill>
                <a:latin typeface="Calibri"/>
              </a:rPr>
              <a:t>Gold shows no crypto-style pump-and-dump: spikes are news-driven and partly fade over a month.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Rectangle 1"/>
          <p:cNvSpPr/>
          <p:nvPr/>
        </p:nvSpPr>
        <p:spPr>
          <a:xfrm>
            <a:off x="548640" y="502920"/>
            <a:ext cx="73152" cy="548640"/>
          </a:xfrm>
          <a:prstGeom prst="rect">
            <a:avLst/>
          </a:prstGeom>
          <a:solidFill>
            <a:srgbClr val="F5B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84048"/>
            <a:ext cx="8778240" cy="777240"/>
          </a:xfrm>
          <a:prstGeom prst="rect">
            <a:avLst/>
          </a:prstGeom>
          <a:noFill/>
        </p:spPr>
        <p:txBody>
          <a:bodyPr wrap="square" anchor="ctr" lIns="45720" rIns="45720" tIns="27432" bIns="27432">
            <a:spAutoFit/>
          </a:bodyPr>
          <a:lstStyle/>
          <a:p>
            <a:pPr algn="l">
              <a:lnSpc>
                <a:spcPct val="110000"/>
              </a:lnSpc>
              <a:spcAft>
                <a:spcPts val="0"/>
              </a:spcAft>
            </a:pPr>
            <a:r>
              <a:rPr sz="3000" b="1" i="0">
                <a:solidFill>
                  <a:srgbClr val="F1F5F9"/>
                </a:solidFill>
                <a:latin typeface="Calibri"/>
              </a:rPr>
              <a:t>Limitations &amp; Future Work</a:t>
            </a:r>
          </a:p>
        </p:txBody>
      </p:sp>
      <p:sp>
        <p:nvSpPr>
          <p:cNvPr id="4" name="TextBox 3"/>
          <p:cNvSpPr txBox="1"/>
          <p:nvPr/>
        </p:nvSpPr>
        <p:spPr>
          <a:xfrm>
            <a:off x="8778240" y="530352"/>
            <a:ext cx="2862072" cy="411480"/>
          </a:xfrm>
          <a:prstGeom prst="rect">
            <a:avLst/>
          </a:prstGeom>
          <a:noFill/>
        </p:spPr>
        <p:txBody>
          <a:bodyPr wrap="square" anchor="ctr" lIns="45720" rIns="45720" tIns="27432" bIns="27432">
            <a:spAutoFit/>
          </a:bodyPr>
          <a:lstStyle/>
          <a:p>
            <a:pPr algn="r">
              <a:lnSpc>
                <a:spcPct val="110000"/>
              </a:lnSpc>
              <a:spcAft>
                <a:spcPts val="0"/>
              </a:spcAft>
            </a:pPr>
            <a:r>
              <a:rPr sz="1200" b="1" i="0">
                <a:solidFill>
                  <a:srgbClr val="14B8A6"/>
                </a:solidFill>
                <a:latin typeface="Calibri"/>
              </a:rPr>
              <a:t>SUMMARY</a:t>
            </a:r>
          </a:p>
        </p:txBody>
      </p:sp>
      <p:sp>
        <p:nvSpPr>
          <p:cNvPr id="5" name="TextBox 4"/>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6" name="TextBox 5"/>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20</a:t>
            </a:r>
          </a:p>
        </p:txBody>
      </p:sp>
      <p:sp>
        <p:nvSpPr>
          <p:cNvPr id="7" name="Rounded Rectangle 6"/>
          <p:cNvSpPr/>
          <p:nvPr/>
        </p:nvSpPr>
        <p:spPr>
          <a:xfrm>
            <a:off x="548640" y="1417320"/>
            <a:ext cx="539496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499262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F43F5E"/>
                </a:solidFill>
                <a:latin typeface="Calibri"/>
              </a:rPr>
              <a:t>LIMITATIONS</a:t>
            </a:r>
          </a:p>
        </p:txBody>
      </p:sp>
      <p:sp>
        <p:nvSpPr>
          <p:cNvPr id="9" name="TextBox 8"/>
          <p:cNvSpPr txBox="1"/>
          <p:nvPr/>
        </p:nvSpPr>
        <p:spPr>
          <a:xfrm>
            <a:off x="749808" y="1828800"/>
            <a:ext cx="4983480" cy="4206240"/>
          </a:xfrm>
          <a:prstGeom prst="rect">
            <a:avLst/>
          </a:prstGeom>
          <a:noFill/>
        </p:spPr>
        <p:txBody>
          <a:bodyPr wrap="square" anchor="t" lIns="45720" rIns="45720" tIns="27432" bIns="27432">
            <a:spAutoFit/>
          </a:bodyPr>
          <a:lstStyle/>
          <a:p>
            <a:pPr algn="l" marL="256032" indent="-256032">
              <a:lnSpc>
                <a:spcPct val="110000"/>
              </a:lnSpc>
              <a:spcAft>
                <a:spcPts val="1000"/>
              </a:spcAft>
              <a:buClr>
                <a:srgbClr val="F43F5E"/>
              </a:buClr>
              <a:buChar char="•"/>
            </a:pPr>
            <a:r>
              <a:rPr sz="1500" b="0" i="0">
                <a:solidFill>
                  <a:srgbClr val="F1F5F9"/>
                </a:solidFill>
                <a:latin typeface="Calibri"/>
              </a:rPr>
              <a:t>Spikes cluster in time → overlapping windows, p-value somewhat optimistic</a:t>
            </a:r>
          </a:p>
          <a:p>
            <a:pPr algn="l" marL="256032" indent="-256032">
              <a:lnSpc>
                <a:spcPct val="110000"/>
              </a:lnSpc>
              <a:spcAft>
                <a:spcPts val="1000"/>
              </a:spcAft>
              <a:buClr>
                <a:srgbClr val="F43F5E"/>
              </a:buClr>
              <a:buChar char="•"/>
            </a:pPr>
            <a:r>
              <a:rPr sz="1500" b="0" i="0">
                <a:solidFill>
                  <a:srgbClr val="F1F5F9"/>
                </a:solidFill>
                <a:latin typeface="Calibri"/>
              </a:rPr>
              <a:t>4 horizons tested → Bonferroni level 0.0125 (20-day result still passes)</a:t>
            </a:r>
          </a:p>
          <a:p>
            <a:pPr algn="l" marL="256032" indent="-256032">
              <a:lnSpc>
                <a:spcPct val="110000"/>
              </a:lnSpc>
              <a:spcAft>
                <a:spcPts val="1000"/>
              </a:spcAft>
              <a:buClr>
                <a:srgbClr val="F43F5E"/>
              </a:buClr>
              <a:buChar char="•"/>
            </a:pPr>
            <a:r>
              <a:rPr sz="1500" b="0" i="0">
                <a:solidFill>
                  <a:srgbClr val="F1F5F9"/>
                </a:solidFill>
                <a:latin typeface="Calibri"/>
              </a:rPr>
              <a:t>Volume only usable from 2020</a:t>
            </a:r>
          </a:p>
          <a:p>
            <a:pPr algn="l" marL="256032" indent="-256032">
              <a:lnSpc>
                <a:spcPct val="110000"/>
              </a:lnSpc>
              <a:spcAft>
                <a:spcPts val="1000"/>
              </a:spcAft>
              <a:buClr>
                <a:srgbClr val="F43F5E"/>
              </a:buClr>
              <a:buChar char="•"/>
            </a:pPr>
            <a:r>
              <a:rPr sz="1500" b="0" i="0">
                <a:solidFill>
                  <a:srgbClr val="F1F5F9"/>
                </a:solidFill>
                <a:latin typeface="Calibri"/>
              </a:rPr>
              <a:t>Removed rows make a few returns span several days</a:t>
            </a:r>
          </a:p>
          <a:p>
            <a:pPr algn="l" marL="256032" indent="-256032">
              <a:lnSpc>
                <a:spcPct val="110000"/>
              </a:lnSpc>
              <a:spcAft>
                <a:spcPts val="1000"/>
              </a:spcAft>
              <a:buClr>
                <a:srgbClr val="F43F5E"/>
              </a:buClr>
              <a:buChar char="•"/>
            </a:pPr>
            <a:r>
              <a:rPr sz="1500" b="0" i="0">
                <a:solidFill>
                  <a:srgbClr val="F1F5F9"/>
                </a:solidFill>
                <a:latin typeface="Calibri"/>
              </a:rPr>
              <a:t>No trading costs: not a trading strategy</a:t>
            </a:r>
          </a:p>
        </p:txBody>
      </p:sp>
      <p:sp>
        <p:nvSpPr>
          <p:cNvPr id="10" name="Rounded Rectangle 9"/>
          <p:cNvSpPr/>
          <p:nvPr/>
        </p:nvSpPr>
        <p:spPr>
          <a:xfrm>
            <a:off x="6245352" y="1417320"/>
            <a:ext cx="5394960" cy="47548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45336"/>
            <a:ext cx="4992624"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0B981"/>
                </a:solidFill>
                <a:latin typeface="Calibri"/>
              </a:rPr>
              <a:t>FUTURE WORK</a:t>
            </a:r>
          </a:p>
        </p:txBody>
      </p:sp>
      <p:sp>
        <p:nvSpPr>
          <p:cNvPr id="12" name="TextBox 11"/>
          <p:cNvSpPr txBox="1"/>
          <p:nvPr/>
        </p:nvSpPr>
        <p:spPr>
          <a:xfrm>
            <a:off x="6446520" y="1828800"/>
            <a:ext cx="4983480" cy="4206240"/>
          </a:xfrm>
          <a:prstGeom prst="rect">
            <a:avLst/>
          </a:prstGeom>
          <a:noFill/>
        </p:spPr>
        <p:txBody>
          <a:bodyPr wrap="square" anchor="t" lIns="45720" rIns="45720" tIns="27432" bIns="27432">
            <a:spAutoFit/>
          </a:bodyPr>
          <a:lstStyle/>
          <a:p>
            <a:pPr algn="l" marL="256032" indent="-256032">
              <a:lnSpc>
                <a:spcPct val="110000"/>
              </a:lnSpc>
              <a:spcAft>
                <a:spcPts val="1000"/>
              </a:spcAft>
              <a:buClr>
                <a:srgbClr val="10B981"/>
              </a:buClr>
              <a:buChar char="•"/>
            </a:pPr>
            <a:r>
              <a:rPr sz="1500" b="0" i="0">
                <a:solidFill>
                  <a:srgbClr val="F1F5F9"/>
                </a:solidFill>
                <a:latin typeface="Calibri"/>
              </a:rPr>
              <a:t>Robust Z-score (median / MAD) and comparison with the standard Z-score</a:t>
            </a:r>
          </a:p>
          <a:p>
            <a:pPr algn="l" marL="256032" indent="-256032">
              <a:lnSpc>
                <a:spcPct val="110000"/>
              </a:lnSpc>
              <a:spcAft>
                <a:spcPts val="1000"/>
              </a:spcAft>
              <a:buClr>
                <a:srgbClr val="10B981"/>
              </a:buClr>
              <a:buChar char="•"/>
            </a:pPr>
            <a:r>
              <a:rPr sz="1500" b="0" i="0">
                <a:solidFill>
                  <a:srgbClr val="F1F5F9"/>
                </a:solidFill>
                <a:latin typeface="Calibri"/>
              </a:rPr>
              <a:t>ARIMA forecast errors and seasonal decomposition residuals as extra signals</a:t>
            </a:r>
          </a:p>
          <a:p>
            <a:pPr algn="l" marL="256032" indent="-256032">
              <a:lnSpc>
                <a:spcPct val="110000"/>
              </a:lnSpc>
              <a:spcAft>
                <a:spcPts val="1000"/>
              </a:spcAft>
              <a:buClr>
                <a:srgbClr val="10B981"/>
              </a:buClr>
              <a:buChar char="•"/>
            </a:pPr>
            <a:r>
              <a:rPr sz="1500" b="0" i="0">
                <a:solidFill>
                  <a:srgbClr val="F1F5F9"/>
                </a:solidFill>
                <a:latin typeface="Calibri"/>
              </a:rPr>
              <a:t>Extend to silver and other metals</a:t>
            </a:r>
          </a:p>
          <a:p>
            <a:pPr algn="l" marL="256032" indent="-256032">
              <a:lnSpc>
                <a:spcPct val="110000"/>
              </a:lnSpc>
              <a:spcAft>
                <a:spcPts val="1000"/>
              </a:spcAft>
              <a:buClr>
                <a:srgbClr val="10B981"/>
              </a:buClr>
              <a:buChar char="•"/>
            </a:pPr>
            <a:r>
              <a:rPr sz="1500" b="0" i="0">
                <a:solidFill>
                  <a:srgbClr val="F1F5F9"/>
                </a:solidFill>
                <a:latin typeface="Calibri"/>
              </a:rPr>
              <a:t>Intraday data for faster detection</a:t>
            </a:r>
          </a:p>
          <a:p>
            <a:pPr algn="l" marL="256032" indent="-256032">
              <a:lnSpc>
                <a:spcPct val="110000"/>
              </a:lnSpc>
              <a:spcAft>
                <a:spcPts val="1000"/>
              </a:spcAft>
              <a:buClr>
                <a:srgbClr val="10B981"/>
              </a:buClr>
              <a:buChar char="•"/>
            </a:pPr>
            <a:r>
              <a:rPr sz="1500" b="0" i="0">
                <a:solidFill>
                  <a:srgbClr val="F1F5F9"/>
                </a:solidFill>
                <a:latin typeface="Calibri"/>
              </a:rPr>
              <a:t>Regression of forward return on spike size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1019"/>
        </a:solidFill>
        <a:effectLst/>
      </p:bgPr>
    </p:bg>
    <p:spTree>
      <p:nvGrpSpPr>
        <p:cNvPr id="1" name=""/>
        <p:cNvGrpSpPr/>
        <p:nvPr/>
      </p:nvGrpSpPr>
      <p:grpSpPr/>
      <p:sp>
        <p:nvSpPr>
          <p:cNvPr id="2" name="TextBox 1"/>
          <p:cNvSpPr txBox="1"/>
          <p:nvPr/>
        </p:nvSpPr>
        <p:spPr>
          <a:xfrm>
            <a:off x="548640" y="6400800"/>
            <a:ext cx="7315200" cy="292608"/>
          </a:xfrm>
          <a:prstGeom prst="rect">
            <a:avLst/>
          </a:prstGeom>
          <a:noFill/>
        </p:spPr>
        <p:txBody>
          <a:bodyPr wrap="square" anchor="t" lIns="45720" rIns="45720" tIns="27432" bIns="27432">
            <a:spAutoFit/>
          </a:bodyPr>
          <a:lstStyle/>
          <a:p>
            <a:pPr algn="l">
              <a:lnSpc>
                <a:spcPct val="110000"/>
              </a:lnSpc>
              <a:spcAft>
                <a:spcPts val="0"/>
              </a:spcAft>
            </a:pPr>
            <a:r>
              <a:rPr sz="1000" b="0" i="0">
                <a:solidFill>
                  <a:srgbClr val="64748B"/>
                </a:solidFill>
                <a:latin typeface="Calibri"/>
              </a:rPr>
              <a:t>GoldWatch  ·  Data Analytics and Visualization</a:t>
            </a:r>
          </a:p>
        </p:txBody>
      </p:sp>
      <p:sp>
        <p:nvSpPr>
          <p:cNvPr id="3" name="TextBox 2"/>
          <p:cNvSpPr txBox="1"/>
          <p:nvPr/>
        </p:nvSpPr>
        <p:spPr>
          <a:xfrm>
            <a:off x="10725912" y="6400800"/>
            <a:ext cx="914400" cy="292608"/>
          </a:xfrm>
          <a:prstGeom prst="rect">
            <a:avLst/>
          </a:prstGeom>
          <a:noFill/>
        </p:spPr>
        <p:txBody>
          <a:bodyPr wrap="square" anchor="t" lIns="45720" rIns="45720" tIns="27432" bIns="27432">
            <a:spAutoFit/>
          </a:bodyPr>
          <a:lstStyle/>
          <a:p>
            <a:pPr algn="r">
              <a:lnSpc>
                <a:spcPct val="110000"/>
              </a:lnSpc>
              <a:spcAft>
                <a:spcPts val="0"/>
              </a:spcAft>
            </a:pPr>
            <a:r>
              <a:rPr sz="1000" b="0" i="0">
                <a:solidFill>
                  <a:srgbClr val="64748B"/>
                </a:solidFill>
                <a:latin typeface="Calibri"/>
              </a:rPr>
              <a:t>21</a:t>
            </a:r>
          </a:p>
        </p:txBody>
      </p:sp>
      <p:pic>
        <p:nvPicPr>
          <p:cNvPr id="4" name="Picture 3" descr="title_spark.png"/>
          <p:cNvPicPr>
            <a:picLocks noChangeAspect="1"/>
          </p:cNvPicPr>
          <p:nvPr/>
        </p:nvPicPr>
        <p:blipFill>
          <a:blip r:embed="rId3"/>
          <a:stretch>
            <a:fillRect/>
          </a:stretch>
        </p:blipFill>
        <p:spPr>
          <a:xfrm>
            <a:off x="6309360" y="1070457"/>
            <a:ext cx="5486400" cy="3345484"/>
          </a:xfrm>
          <a:prstGeom prst="rect">
            <a:avLst/>
          </a:prstGeom>
        </p:spPr>
      </p:pic>
      <p:sp>
        <p:nvSpPr>
          <p:cNvPr id="5" name="TextBox 4"/>
          <p:cNvSpPr txBox="1"/>
          <p:nvPr/>
        </p:nvSpPr>
        <p:spPr>
          <a:xfrm>
            <a:off x="548640" y="1828800"/>
            <a:ext cx="6400800" cy="1097280"/>
          </a:xfrm>
          <a:prstGeom prst="rect">
            <a:avLst/>
          </a:prstGeom>
          <a:noFill/>
        </p:spPr>
        <p:txBody>
          <a:bodyPr wrap="square" anchor="t" lIns="45720" rIns="45720" tIns="27432" bIns="27432">
            <a:spAutoFit/>
          </a:bodyPr>
          <a:lstStyle/>
          <a:p>
            <a:pPr algn="l">
              <a:lnSpc>
                <a:spcPct val="110000"/>
              </a:lnSpc>
              <a:spcAft>
                <a:spcPts val="0"/>
              </a:spcAft>
            </a:pPr>
            <a:r>
              <a:rPr sz="6000" b="1" i="0">
                <a:solidFill>
                  <a:srgbClr val="F5BD4F"/>
                </a:solidFill>
                <a:latin typeface="Calibri"/>
              </a:rPr>
              <a:t>Thank you</a:t>
            </a:r>
          </a:p>
        </p:txBody>
      </p:sp>
      <p:sp>
        <p:nvSpPr>
          <p:cNvPr id="6" name="TextBox 5"/>
          <p:cNvSpPr txBox="1"/>
          <p:nvPr/>
        </p:nvSpPr>
        <p:spPr>
          <a:xfrm>
            <a:off x="548640" y="2971800"/>
            <a:ext cx="5943600" cy="640080"/>
          </a:xfrm>
          <a:prstGeom prst="rect">
            <a:avLst/>
          </a:prstGeom>
          <a:noFill/>
        </p:spPr>
        <p:txBody>
          <a:bodyPr wrap="square" anchor="t" lIns="45720" rIns="45720" tIns="27432" bIns="27432">
            <a:spAutoFit/>
          </a:bodyPr>
          <a:lstStyle/>
          <a:p>
            <a:pPr algn="l">
              <a:lnSpc>
                <a:spcPct val="110000"/>
              </a:lnSpc>
              <a:spcAft>
                <a:spcPts val="0"/>
              </a:spcAft>
            </a:pPr>
            <a:r>
              <a:rPr sz="2800" b="0" i="0">
                <a:solidFill>
                  <a:srgbClr val="F1F5F9"/>
                </a:solidFill>
                <a:latin typeface="Calibri"/>
              </a:rPr>
              <a:t>Questions?</a:t>
            </a:r>
          </a:p>
        </p:txBody>
      </p:sp>
      <p:sp>
        <p:nvSpPr>
          <p:cNvPr id="7" name="Rounded Rectangle 6"/>
          <p:cNvSpPr/>
          <p:nvPr/>
        </p:nvSpPr>
        <p:spPr>
          <a:xfrm>
            <a:off x="548640" y="4572000"/>
            <a:ext cx="11091672" cy="1554480"/>
          </a:xfrm>
          <a:prstGeom prst="roundRect">
            <a:avLst>
              <a:gd name="adj" fmla="val 6000"/>
            </a:avLst>
          </a:prstGeom>
          <a:solidFill>
            <a:srgbClr val="0B1722"/>
          </a:solidFill>
          <a:ln w="12700">
            <a:solidFill>
              <a:srgbClr val="223C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700016"/>
            <a:ext cx="10689336" cy="320040"/>
          </a:xfrm>
          <a:prstGeom prst="rect">
            <a:avLst/>
          </a:prstGeom>
          <a:noFill/>
        </p:spPr>
        <p:txBody>
          <a:bodyPr wrap="square" anchor="t" lIns="45720" rIns="45720" tIns="27432" bIns="27432">
            <a:spAutoFit/>
          </a:bodyPr>
          <a:lstStyle/>
          <a:p>
            <a:pPr algn="l">
              <a:lnSpc>
                <a:spcPct val="110000"/>
              </a:lnSpc>
              <a:spcAft>
                <a:spcPts val="600"/>
              </a:spcAft>
            </a:pPr>
            <a:r>
              <a:rPr sz="1200" b="1" i="0">
                <a:solidFill>
                  <a:srgbClr val="14B8A6"/>
                </a:solidFill>
                <a:latin typeface="Calibri"/>
              </a:rPr>
              <a:t>REFERENCES &amp; TOOLS</a:t>
            </a:r>
          </a:p>
        </p:txBody>
      </p:sp>
      <p:sp>
        <p:nvSpPr>
          <p:cNvPr id="9" name="TextBox 8"/>
          <p:cNvSpPr txBox="1"/>
          <p:nvPr/>
        </p:nvSpPr>
        <p:spPr>
          <a:xfrm>
            <a:off x="749808" y="4956048"/>
            <a:ext cx="10698480" cy="1097280"/>
          </a:xfrm>
          <a:prstGeom prst="rect">
            <a:avLst/>
          </a:prstGeom>
          <a:noFill/>
        </p:spPr>
        <p:txBody>
          <a:bodyPr wrap="square" anchor="t" lIns="45720" rIns="45720" tIns="27432" bIns="27432">
            <a:spAutoFit/>
          </a:bodyPr>
          <a:lstStyle/>
          <a:p>
            <a:pPr algn="l" marL="256032" indent="-256032">
              <a:lnSpc>
                <a:spcPct val="110000"/>
              </a:lnSpc>
              <a:spcAft>
                <a:spcPts val="400"/>
              </a:spcAft>
              <a:buClr>
                <a:srgbClr val="F5BD4F"/>
              </a:buClr>
              <a:buChar char="•"/>
            </a:pPr>
            <a:r>
              <a:rPr sz="1400" b="0" i="0">
                <a:solidFill>
                  <a:srgbClr val="94A3B8"/>
                </a:solidFill>
                <a:latin typeface="Calibri"/>
              </a:rPr>
              <a:t>Data: Yahoo Finance, COMEX gold futures (GC=F), via the yfinance Python library</a:t>
            </a:r>
          </a:p>
          <a:p>
            <a:pPr algn="l" marL="256032" indent="-256032">
              <a:lnSpc>
                <a:spcPct val="110000"/>
              </a:lnSpc>
              <a:spcAft>
                <a:spcPts val="400"/>
              </a:spcAft>
              <a:buClr>
                <a:srgbClr val="F5BD4F"/>
              </a:buClr>
              <a:buChar char="•"/>
            </a:pPr>
            <a:r>
              <a:rPr sz="1400" b="0" i="0">
                <a:solidFill>
                  <a:srgbClr val="94A3B8"/>
                </a:solidFill>
                <a:latin typeface="Calibri"/>
              </a:rPr>
              <a:t>Analysis: pandas, NumPy · Dashboard: Streamlit, Plotly · Charts: Matplotlib · Tests: pytest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